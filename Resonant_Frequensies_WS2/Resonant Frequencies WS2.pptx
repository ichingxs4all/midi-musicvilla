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71" r:id="rId3"/>
    <p:sldId id="258" r:id="rId4"/>
    <p:sldId id="259" r:id="rId5"/>
    <p:sldId id="260" r:id="rId6"/>
    <p:sldId id="261" r:id="rId7"/>
    <p:sldId id="273" r:id="rId8"/>
    <p:sldId id="272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01"/>
    <p:restoredTop sz="94694"/>
  </p:normalViewPr>
  <p:slideViewPr>
    <p:cSldViewPr snapToGrid="0">
      <p:cViewPr varScale="1">
        <p:scale>
          <a:sx n="121" d="100"/>
          <a:sy n="121" d="100"/>
        </p:scale>
        <p:origin x="37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39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1944 241 24575,'-26'-15'0,"-16"-14"0,-20-12 0,-10-6 0,-7 5 0,1 12 0,6 9 0,7 10 0,11 8 0,-4 2 0,-10 1 0,-5 0 0,-1 0 0,0 0 0,5 0 0,4 0 0,6 0 0,10 0 0,7 0 0,4 0 0,-1 0 0,-5 1 0,-8 7 0,-5 12 0,-1 11 0,4 7 0,9 2 0,5 8 0,4 14 0,-3 19 0,17-29 0,1 1 0,0 4 0,0 1 0,0 2 0,1-1 0,0-2 0,1-1 0,3-6 0,1 0 0,-12 39 0,8-3 0,8 6 0,7-41 0,2 2 0,1 6 0,0 0 0,2 3 0,1-1 0,2-1 0,1-2 0,10 39 0,2-20 0,0-17 0,-8-13 0,-3-2 0,0 1 0,-2 6 0,6 11 0,4 7 0,7 3 0,10-2 0,9-7 0,7-6 0,3-8 0,4-5 0,4 1 0,2-1 0,3-2 0,-4 1 0,1-2 0,-4 0 0,-6-3 0,-4-5 0,-2-9 0,14-8 0,24-10 0,-26-4 0,6-4 0,13-3 0,4-5 0,10-4 0,1-4 0,2-6 0,-2-3 0,-6-3 0,-3-3 0,-11 4 0,-4-1 0,-9 3 0,-3-1 0,-7 4 0,-2 1 0,35-19 0,-10 5 0,-9 4 0,-6 0 0,-8-2 0,-4-5 0,-7-10 0,-5-9 0,-1-16 0,-6-11 0,-8-12 0,-10 45 0,-3-1 0,-1 1 0,-2 0 0,0-44 0,0 10 0,0 11 0,-6 5 0,-8-4 0,-12-5 0,-11-11 0,16 42 0,0-1 0,-1-1 0,1 0 0,0 2 0,1 2 0,-12-33 0,7 13 0,6 17 0,6 9 0,1 8 0,0 7 0,-2 1 0,-6 2 0,-11-6 0,-4-7 0,-8-8 0,-4-8 0,1-8 0,3-1 0,6 9 0,6 12 0,8 14 0,2 10 0,3 4 0,3 5 0,0 3 0,3 0 0,2 3 0,1 0 0,2-1 0,1-2 0,2-3 0,2-1 0,-3 0 0,4 2 0,-2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43.9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1756 69 24575,'-20'0'0,"-6"0"0,-20 0 0,-20 0 0,-17 0 0,32 0 0,-2 0 0,-1 1 0,-2 1 0,-4 2 0,-1 3 0,-2 5 0,1 3 0,1 5 0,2 4 0,-1 6 0,0 3 0,1 3 0,1 3 0,1 1 0,1 0 0,3 2 0,2 0 0,5-1 0,3-1 0,7-2 0,3-1 0,-19 30 0,13-5 0,11-2 0,1 3 0,2 5 0,1 4 0,1 8 0,4 9 0,-3 6 0,12-45 0,0 0 0,-9 46 0,4-7 0,8-5 0,5-10 0,2 5 0,0 4 0,4 8 0,9 5 0,8-2 0,8-10 0,11-8 0,13 0 0,-17-37 0,3 0 0,5 2 0,1 1 0,0 0 0,0 0 0,-4-5 0,-1-1 0,21 24 0,-12-12 0,-7-10 0,-2-4 0,1-1 0,-2-2 0,-3 0 0,3-3 0,0-2 0,3-1 0,8 0 0,9-2 0,14-5 0,10-4 0,5-7 0,6-3 0,-44-1 0,1-3 0,0-2 0,0-3 0,2-3 0,0-3 0,-3-4 0,0-2 0,-3-3 0,0 0 0,42-18 0,-5 2 0,-3 1 0,0-2 0,3-4 0,-1-5 0,-3-3 0,-10-3 0,-11 4 0,-11 2 0,-6 2 0,-3 1 0,-5-2 0,-4-2 0,-2-2 0,-8-5 0,-5-10 0,-8-16 0,-8 30 0,-4-2 0,-6-10 0,-5-3 0,-5-8 0,-5-1 0,-5-2 0,-2-1 0,-3 0 0,0 2 0,3 4 0,1 3 0,1 6 0,1 3 0,2 7 0,1 1 0,3 6 0,-1 0 0,-22-39 0,3 0 0,0 0 0,4 11 0,5 12 0,8 13 0,5 10 0,4 5 0,4 2 0,-2-2 0,-2-3 0,-5-5 0,-7-3 0,-7-2 0,-3-4 0,0 4 0,-1 1 0,1 6 0,1 7 0,-2 8 0,3 10 0,4 6 0,5 6 0,5 2 0,2 0 0,-2 0 0,0-2 0,1-1 0,2-2 0,3-2 0,1 1 0,-1-1 0,-6-1 0,-8-1 0,-6-1 0,-3 1 0,2 4 0,9 3 0,12 2 0,9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49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2271 0 24575,'-33'0'0,"-14"0"0,-26 0 0,-14 0 0,28 1 0,-3-1 0,0 2 0,-1 1 0,2 1 0,2-1 0,1 1 0,2 0 0,-33 2 0,0-4 0,-5-2 0,-1 0 0,7 0 0,12 0 0,17 0 0,11 0 0,3 0 0,-1 0 0,0 3 0,-5 7 0,-4 10 0,-5 16 0,-8 20 0,30-20 0,0 3 0,-1 7 0,0 2 0,-3 5 0,0 2 0,2 1 0,1 1 0,2-1 0,2-1 0,4-7 0,2-2 0,-15 30 0,15-13 0,16 2 0,7 9 0,6 21 0,0-42 0,0 2 0,0 4 0,0 3 0,0 6 0,0 1 0,0 2 0,0 0 0,0 4 0,0 2 0,-1 2 0,2 0 0,1 1 0,2 0 0,2 0 0,4 0 0,4-1 0,4 0 0,7-2 0,5-1 0,6 1 0,5-2 0,6 4 0,4-2 0,1-3 0,0-1 0,0-5 0,-2-2 0,-6-8 0,-2-4 0,-7-8 0,-1-3 0,22 27 0,-7-10 0,1-2 0,4 2 0,8 3 0,4-4 0,2-5 0,3-11 0,5-12 0,7-13 0,8-10 0,-41-7 0,1-1 0,4 1 0,2-2 0,7-4 0,3-2 0,3-4 0,1-2 0,4-5 0,2-2 0,2-7 0,0-1 0,-2-1 0,-1-2 0,-2-1 0,-2-2 0,-5 0 0,-1 0 0,-5 1 0,0-2 0,-1-1 0,-2-2 0,0-4 0,-1-2 0,-1-5 0,-2-3 0,-4-2 0,-3-4 0,0-4 0,-3-4 0,0-7 0,-2-4 0,-1-6 0,-1-3 0,-1-4 0,-2-2 0,-2-1 0,-2-1 0,-3 3 0,-2 1 0,-4 7 0,-2 3 0,-2 6 0,-2 4 0,-4 13 0,-2 5 0,5-26 0,-7 20 0,-7 11 0,-1-6 0,-2-12 0,-6-15 0,-5-15 0,5 44 0,-1 0 0,-1 1 0,1-1 0,-9-45 0,1 10 0,-6 3 0,-7 4 0,-5 5 0,-13 3 0,-11 10 0,-11 2 0,-11 3 0,36 29 0,-2 1 0,-2 1 0,-1 1 0,2 1 0,0 3 0,-44-15 0,7 7 0,7 5 0,4 9 0,9 4 0,8 4 0,9 2 0,3 1 0,-3 0 0,-2 3 0,-6 0 0,-5 0 0,-1 0 0,0 0 0,1 0 0,4 0 0,1 0 0,2 0 0,9 0 0,4 0 0,5 0 0,2 0 0,1 0 0,3 0 0,10 6 0,8-5 0,6 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4:55.1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2501 214 24575,'-67'-9'0,"-25"-13"0,32 5 0,-4-3 0,-5-1 0,-1-2 0,4 2 0,2 2 0,9 4 0,1 3 0,-44-2 0,9 8 0,0 6 0,-2-3 0,3-1 0,-1 0 0,0 1 0,9 3 0,10 0 0,11 0 0,8 0 0,-2 0 0,1 0 0,1 0 0,5 2 0,4 9 0,-1 15 0,0 16 0,-2 13 0,-3 9 0,-4 5 0,24-28 0,0 1 0,-2 3 0,0 1 0,-2 1 0,-1 1 0,2-1 0,0-2 0,-23 31 0,10-18 0,18-19 0,10-13 0,9-6 0,5 0 0,2 3 0,0 8 0,-2 10 0,-1 13 0,-3 7 0,-3 0 0,-3 3 0,-4-1 0,1-2 0,4-2 0,5-4 0,6-2 0,0-1 0,2-1 0,8 1 0,19 3 0,14 1 0,11-2 0,0-6 0,-7-10 0,-3-5 0,-5-3 0,-6-3 0,-2 0 0,0 2 0,4 3 0,5 5 0,0 0 0,2 1 0,-2 2 0,2-1 0,1-1 0,-4-5 0,5-3 0,7-3 0,13-3 0,9-2 0,2-6 0,0-5 0,-5-5 0,4-3 0,10-3 0,12 0 0,-41 1 0,2-2 0,3 0 0,1-2 0,0-3 0,-1-1 0,-1-2 0,-2-1 0,-5-1 0,-2-2 0,42-13 0,-10-1 0,-1-5 0,8-6 0,-38 17 0,1-1 0,4 1 0,0 0 0,1 1 0,0 2 0,-3 2 0,-2 1 0,35-8 0,-23 6 0,-17-1 0,-17-2 0,-9-11 0,-5-21 0,-7-29 0,-7 29 0,-1-2 0,1-6 0,-1 0 0,-1 1 0,0 1 0,0-39 0,2 21 0,6 18 0,3 11 0,6 2 0,3-6 0,0-4 0,0 0 0,-8 2 0,-5 6 0,-5 1 0,-9-5 0,-13 2 0,-11-1 0,-11 8 0,-5 6 0,0 5 0,0 6 0,1 2 0,3 5 0,4 1 0,-2-1 0,2 1 0,4-2 0,2 0 0,8 3 0,3 0 0,2 1 0,1 3 0,0 0 0,-1 3 0,2 0 0,4 3 0,3 1 0,3 2 0,-1 0 0,-1 1 0,0-1 0,2-1 0,4 3 0,2-2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5:00.0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2949 568 24575,'-16'-13'0,"-7"-8"0,-16-12 0,-24-13 0,-17-8 0,32 25 0,-4-1 0,-7-3 0,-3 1 0,-3-1 0,-1 2 0,-3 2 0,-1 1 0,-1 0 0,0 2 0,2 5 0,1 3 0,1 2 0,1 1 0,3 4 0,0 2 0,4 4 0,0 2 0,5 1 0,0 0 0,1 2 0,1 2 0,-1 1 0,1 3 0,-2 1 0,1 3 0,0 2 0,1 2 0,1 0 0,1 0 0,-37 10 0,16-9 0,17-7 0,14-6 0,9-2 0,6 0 0,-2 3 0,-4 3 0,-5 5 0,-6 8 0,1 9 0,3 14 0,-1 14 0,-2 19 0,19-31 0,-2 3 0,-5 6 0,-1 3 0,-2 4 0,0 0 0,0 0 0,1-1 0,3-5 0,2-1 0,-8 34 0,15-16 0,12-3 0,7 1 0,0 6 0,1 8 0,5-5 0,9 0 0,7-5 0,3-1 0,-4 1 0,-6 0 0,-5-6 0,-2-5 0,1-9 0,6-3 0,4-1 0,6 5 0,4 1 0,3-1 0,5 0 0,3-5 0,3-3 0,0-1 0,-4-2 0,-2-2 0,0 0 0,3-3 0,3 0 0,7-4 0,12-2 0,16-1 0,17-7 0,-40-15 0,3-2 0,4-2 0,1-2 0,0-3 0,1 0 0,1 0 0,0 0 0,-5 0 0,-1 0 0,-5 0 0,-2 0 0,47 1 0,-8 3 0,-40-2 0,1-1 0,5 1 0,2 0 0,6-1 0,3 0 0,7-1 0,1 0 0,4 0 0,0 0 0,1 0 0,-1 0 0,-7-2 0,-2-2 0,-11-2 0,-4-2 0,35-16 0,-21-9 0,-13-5 0,-10-3 0,-7-3 0,-7-3 0,-3 1 0,-3 0 0,-3 1 0,-1 2 0,-2-1 0,0-5 0,-2-7 0,-4-9 0,-2-7 0,-6-6 0,-2-6 0,-2-15 0,-6 45 0,-3 0 0,-2-4 0,-4 0 0,-2-1 0,-2 0 0,-2 5 0,0 1 0,1 5 0,1 1 0,-13-34 0,2 14 0,2 10 0,-3 7 0,0 6 0,-2 2 0,0-1 0,3 0 0,0-2 0,1 6 0,-1 3 0,1 5 0,3 9 0,-1 1 0,-1 2 0,-3-4 0,3-4 0,6-1 0,6 3 0,7 5 0,0 8 0,3 2 0,-2 2 0,0 0 0,-2 1 0,-3-2 0,1 2 0,-1-2 0,0-4 0,6 7 0,-3-2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12T15:55:06.0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1741 161 24575,'-22'0'0,"-13"0"0,-18 0 0,-24 0 0,10-4 0,-7-1 0,-10-1 0,-4-3 0,-4-2 0,0-2 0,5-1 0,5-2 0,25 4 0,3-1 0,-40-11 0,18 8 0,13 6 0,16 4 0,8 4 0,9 2 0,1 0 0,2 0 0,3 0 0,-3 0 0,3 3 0,-6 5 0,-5 7 0,-4 5 0,-2 4 0,3-1 0,4-1 0,8-1 0,6 4 0,6 8 0,5 15 0,2 22 0,5 24 0,1-35 0,1 4 0,0 9 0,0 1 0,0 7 0,0 0 0,-1 1 0,2-2 0,0-4 0,1-3 0,1-8 0,2-3 0,1-9 0,2-3 0,9 29 0,-1-16 0,-4-7 0,-3 6 0,-3 10 0,2 11 0,1 4 0,0-2 0,7-5 0,1 0 0,5 9 0,7 3 0,-12-41 0,1 1 0,4 0 0,2-2 0,4 0 0,1-2 0,1-1 0,1-2 0,30 31 0,1-13 0,-5-14 0,7-11 0,7-5 0,6-5 0,7-4 0,3-4 0,1-7 0,6-5 0,-44-5 0,1-1 0,-1 0 0,1-1 0,2-4 0,0-3 0,-2-5 0,-2-4 0,-2-5 0,-1-5 0,-1-6 0,-2-2 0,-3-2 0,-2-1 0,-2 0 0,-2-1 0,27-33 0,-13 11 0,-12 8 0,-6 10 0,-2 5 0,-1-2 0,-1 1 0,1-4 0,0 0 0,0-4 0,0-5 0,-2-1 0,-1 2 0,-4 7 0,-6 5 0,-7 2 0,-5-2 0,-2-5 0,0-3 0,0-4 0,0 1 0,-3-1 0,-5-3 0,-9-6 0,-6-6 0,-4-3 0,0 3 0,0 2 0,1-1 0,-4-2 0,-3-5 0,-3 1 0,-2 1 0,1 6 0,1 6 0,3 8 0,0 4 0,0 2 0,-2 0 0,-4-1 0,-4 4 0,-3-1 0,-1 4 0,2 4 0,5 5 0,5 5 0,5 6 0,7 2 0,0 0 0,4 0 0,1-6 0,0-2 0,0-2 0,-1 0 0,3 4 0,3 0 0,3 3 0,0 1 0,0 3 0,-2 1 0,2 3 0,1 2 0,1 0 0,2 0 0,-4-3 0,-4-2 0,-3-4 0,-1-2 0,0 2 0,3 3 0,4 6 0,4 4 0,4 2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64725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25825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930055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9005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0480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72873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1495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9905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/>
              <a:t>Klik op het pictogram als u een afbeelding wilt toevoegen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0107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35464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30684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00EF211-2BFB-6B4A-8ED9-E264860AF635}" type="datetimeFigureOut">
              <a:rPr lang="nl-NL" smtClean="0"/>
              <a:t>25-02-2026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D5E111BD-0E9D-6447-BCC7-BAE87DDFF598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988256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rduino.cc/en/software/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8.png"/><Relationship Id="rId3" Type="http://schemas.openxmlformats.org/officeDocument/2006/relationships/image" Target="../media/image3.jpg"/><Relationship Id="rId7" Type="http://schemas.openxmlformats.org/officeDocument/2006/relationships/image" Target="../media/image5.png"/><Relationship Id="rId12" Type="http://schemas.openxmlformats.org/officeDocument/2006/relationships/customXml" Target="../ink/ink5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7.png"/><Relationship Id="rId5" Type="http://schemas.openxmlformats.org/officeDocument/2006/relationships/image" Target="../media/image4.png"/><Relationship Id="rId15" Type="http://schemas.openxmlformats.org/officeDocument/2006/relationships/image" Target="../media/image9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6.png"/><Relationship Id="rId14" Type="http://schemas.openxmlformats.org/officeDocument/2006/relationships/customXml" Target="../ink/ink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9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thewessens.net/synthbook/#constructive-synthesis" TargetMode="External"/><Relationship Id="rId2" Type="http://schemas.openxmlformats.org/officeDocument/2006/relationships/hyperlink" Target="https://sensorium.github.io/Mozz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9D7E975-9161-4F2D-AC53-69E1912F6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Afbeelding 4" descr="Afbeelding met elektronica, stroomkring, Elektronische engineering, Stroomkringonderdeel&#10;&#10;Door AI gegenereerde inhoud is mogelijk onjuist.">
            <a:extLst>
              <a:ext uri="{FF2B5EF4-FFF2-40B4-BE49-F238E27FC236}">
                <a16:creationId xmlns:a16="http://schemas.microsoft.com/office/drawing/2014/main" id="{624CE4E0-B075-1442-A91F-6E023F80F8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291" y="623275"/>
            <a:ext cx="4486305" cy="5607882"/>
          </a:xfrm>
          <a:prstGeom prst="rect">
            <a:avLst/>
          </a:prstGeom>
        </p:spPr>
      </p:pic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3E6235-1649-4B47-9862-4026FC473B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33A7AD-E2D4-C050-4A31-A65549ED2F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2497" y="1056640"/>
            <a:ext cx="3197660" cy="3125746"/>
          </a:xfrm>
        </p:spPr>
        <p:txBody>
          <a:bodyPr anchor="b">
            <a:normAutofit/>
          </a:bodyPr>
          <a:lstStyle/>
          <a:p>
            <a:pPr algn="l"/>
            <a:r>
              <a:rPr lang="nl-NL" sz="7200" dirty="0" err="1"/>
              <a:t>Arduino</a:t>
            </a:r>
            <a:r>
              <a:rPr lang="nl-NL" sz="7200" dirty="0"/>
              <a:t> &amp;</a:t>
            </a:r>
            <a:br>
              <a:rPr lang="nl-NL" sz="7200" dirty="0"/>
            </a:br>
            <a:r>
              <a:rPr lang="nl-NL" sz="7200" dirty="0" err="1"/>
              <a:t>Mozzi</a:t>
            </a:r>
            <a:endParaRPr lang="nl-NL" sz="72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DE8BC1FA-C5AC-3B96-08E2-8B5DC649C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2496" y="4301656"/>
            <a:ext cx="2705619" cy="762618"/>
          </a:xfrm>
        </p:spPr>
        <p:txBody>
          <a:bodyPr anchor="t">
            <a:normAutofit/>
          </a:bodyPr>
          <a:lstStyle/>
          <a:p>
            <a:pPr algn="l"/>
            <a:r>
              <a:rPr lang="nl-NL" sz="2000" dirty="0"/>
              <a:t>DIY Synthesizer</a:t>
            </a:r>
          </a:p>
        </p:txBody>
      </p:sp>
    </p:spTree>
    <p:extLst>
      <p:ext uri="{BB962C8B-B14F-4D97-AF65-F5344CB8AC3E}">
        <p14:creationId xmlns:p14="http://schemas.microsoft.com/office/powerpoint/2010/main" val="22740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83113-8B2C-3284-EA96-90F1AA37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C927BA-1A0C-10FF-6CF3-90E7BE806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067A78B8-5AE9-D57F-96ED-B74A1BB48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776DAF-27BC-ED20-F7D7-55791A4120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3" y="623275"/>
            <a:ext cx="401217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F45E5B2-8629-151C-AA90-1CB194A85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52497" y="1056640"/>
            <a:ext cx="3197660" cy="3125746"/>
          </a:xfrm>
        </p:spPr>
        <p:txBody>
          <a:bodyPr anchor="b">
            <a:normAutofit/>
          </a:bodyPr>
          <a:lstStyle/>
          <a:p>
            <a:pPr algn="l"/>
            <a:r>
              <a:rPr lang="nl-NL" sz="7200" dirty="0" err="1"/>
              <a:t>Arduino</a:t>
            </a:r>
            <a:r>
              <a:rPr lang="nl-NL" sz="7200" dirty="0"/>
              <a:t> &amp;</a:t>
            </a:r>
            <a:br>
              <a:rPr lang="nl-NL" sz="7200" dirty="0"/>
            </a:br>
            <a:r>
              <a:rPr lang="nl-NL" sz="7200" dirty="0" err="1"/>
              <a:t>Mozzi</a:t>
            </a:r>
            <a:endParaRPr lang="nl-NL" sz="7200" dirty="0"/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8F59466E-84C6-EBDC-B7F0-F3F44C6555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52496" y="4301656"/>
            <a:ext cx="2705619" cy="762618"/>
          </a:xfrm>
        </p:spPr>
        <p:txBody>
          <a:bodyPr anchor="t">
            <a:normAutofit/>
          </a:bodyPr>
          <a:lstStyle/>
          <a:p>
            <a:pPr algn="l"/>
            <a:r>
              <a:rPr lang="nl-NL" sz="2000" dirty="0"/>
              <a:t>DIY Synthesizers </a:t>
            </a:r>
            <a:r>
              <a:rPr lang="nl-NL" sz="2000" dirty="0" err="1"/>
              <a:t>with</a:t>
            </a:r>
            <a:r>
              <a:rPr lang="nl-NL" sz="2000" dirty="0"/>
              <a:t> </a:t>
            </a:r>
            <a:r>
              <a:rPr lang="nl-NL" sz="2000" dirty="0" err="1"/>
              <a:t>Arduino</a:t>
            </a:r>
            <a:endParaRPr lang="nl-NL" sz="2000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D541100F-AA47-B42D-D4D9-09D532F65255}"/>
              </a:ext>
            </a:extLst>
          </p:cNvPr>
          <p:cNvSpPr txBox="1"/>
          <p:nvPr/>
        </p:nvSpPr>
        <p:spPr>
          <a:xfrm>
            <a:off x="197753" y="856944"/>
            <a:ext cx="53045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Step 1: Download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Arduino</a:t>
            </a:r>
            <a:r>
              <a:rPr lang="nl-NL" dirty="0"/>
              <a:t> software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install</a:t>
            </a:r>
            <a:r>
              <a:rPr lang="nl-NL" dirty="0"/>
              <a:t> </a:t>
            </a:r>
            <a:r>
              <a:rPr lang="nl-NL" dirty="0" err="1"/>
              <a:t>it</a:t>
            </a:r>
            <a:endParaRPr lang="nl-NL" dirty="0"/>
          </a:p>
          <a:p>
            <a:r>
              <a:rPr lang="nl-NL" dirty="0" err="1">
                <a:hlinkClick r:id="rId2"/>
              </a:rPr>
              <a:t>https</a:t>
            </a:r>
            <a:r>
              <a:rPr lang="nl-NL" dirty="0">
                <a:hlinkClick r:id="rId2"/>
              </a:rPr>
              <a:t>://</a:t>
            </a:r>
            <a:r>
              <a:rPr lang="nl-NL" dirty="0" err="1">
                <a:hlinkClick r:id="rId2"/>
              </a:rPr>
              <a:t>www.arduino.cc</a:t>
            </a:r>
            <a:r>
              <a:rPr lang="nl-NL" dirty="0">
                <a:hlinkClick r:id="rId2"/>
              </a:rPr>
              <a:t>/en/software/</a:t>
            </a:r>
            <a:endParaRPr lang="nl-NL" dirty="0"/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50036458-57E6-D332-6BDF-2451F76B0BD0}"/>
              </a:ext>
            </a:extLst>
          </p:cNvPr>
          <p:cNvSpPr txBox="1"/>
          <p:nvPr/>
        </p:nvSpPr>
        <p:spPr>
          <a:xfrm>
            <a:off x="149813" y="1896463"/>
            <a:ext cx="49498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Step 2: Connect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Arduino</a:t>
            </a:r>
            <a:r>
              <a:rPr lang="nl-NL" dirty="0"/>
              <a:t> board </a:t>
            </a:r>
            <a:r>
              <a:rPr lang="nl-NL" dirty="0" err="1"/>
              <a:t>to</a:t>
            </a:r>
            <a:r>
              <a:rPr lang="nl-NL" dirty="0"/>
              <a:t> a USB port</a:t>
            </a:r>
          </a:p>
          <a:p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dongle</a:t>
            </a:r>
            <a:r>
              <a:rPr lang="nl-NL" dirty="0"/>
              <a:t> or USB hub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needed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7D90372F-9954-0AA4-589C-BEB9645D63A8}"/>
              </a:ext>
            </a:extLst>
          </p:cNvPr>
          <p:cNvSpPr txBox="1"/>
          <p:nvPr/>
        </p:nvSpPr>
        <p:spPr>
          <a:xfrm>
            <a:off x="149813" y="2919624"/>
            <a:ext cx="62122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Step 3: Start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Arduino</a:t>
            </a:r>
            <a:r>
              <a:rPr lang="nl-NL" dirty="0"/>
              <a:t> software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choose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right board</a:t>
            </a:r>
          </a:p>
          <a:p>
            <a:r>
              <a:rPr lang="nl-NL" dirty="0"/>
              <a:t>We </a:t>
            </a:r>
            <a:r>
              <a:rPr lang="nl-NL" dirty="0" err="1"/>
              <a:t>use</a:t>
            </a:r>
            <a:r>
              <a:rPr lang="nl-NL" dirty="0"/>
              <a:t> a </a:t>
            </a:r>
            <a:r>
              <a:rPr lang="nl-NL" dirty="0" err="1"/>
              <a:t>Arduino</a:t>
            </a:r>
            <a:r>
              <a:rPr lang="nl-NL" dirty="0"/>
              <a:t> Leonardo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AB737126-EC27-6BBC-1361-4B9703017DD5}"/>
              </a:ext>
            </a:extLst>
          </p:cNvPr>
          <p:cNvSpPr txBox="1"/>
          <p:nvPr/>
        </p:nvSpPr>
        <p:spPr>
          <a:xfrm>
            <a:off x="195347" y="3942785"/>
            <a:ext cx="54407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Step 4: Select </a:t>
            </a:r>
            <a:r>
              <a:rPr lang="nl-NL" dirty="0" err="1"/>
              <a:t>the</a:t>
            </a:r>
            <a:r>
              <a:rPr lang="nl-NL" dirty="0"/>
              <a:t> right </a:t>
            </a:r>
            <a:r>
              <a:rPr lang="nl-NL" dirty="0" err="1"/>
              <a:t>serial</a:t>
            </a:r>
            <a:r>
              <a:rPr lang="nl-NL" dirty="0"/>
              <a:t> port</a:t>
            </a:r>
          </a:p>
          <a:p>
            <a:r>
              <a:rPr lang="nl-NL" dirty="0"/>
              <a:t>On Windows look </a:t>
            </a:r>
            <a:r>
              <a:rPr lang="nl-NL" dirty="0" err="1"/>
              <a:t>for</a:t>
            </a:r>
            <a:r>
              <a:rPr lang="nl-NL" dirty="0"/>
              <a:t> COM , on Mac look </a:t>
            </a:r>
            <a:r>
              <a:rPr lang="nl-NL" dirty="0" err="1"/>
              <a:t>for</a:t>
            </a:r>
            <a:r>
              <a:rPr lang="nl-NL" dirty="0"/>
              <a:t> /</a:t>
            </a:r>
            <a:r>
              <a:rPr lang="nl-NL" dirty="0" err="1"/>
              <a:t>dev</a:t>
            </a:r>
            <a:r>
              <a:rPr lang="nl-NL" dirty="0"/>
              <a:t>/</a:t>
            </a:r>
            <a:r>
              <a:rPr lang="nl-NL" dirty="0" err="1"/>
              <a:t>cu</a:t>
            </a:r>
            <a:r>
              <a:rPr lang="nl-NL" dirty="0"/>
              <a:t>...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61158F43-8A32-C376-C334-787578366691}"/>
              </a:ext>
            </a:extLst>
          </p:cNvPr>
          <p:cNvSpPr txBox="1"/>
          <p:nvPr/>
        </p:nvSpPr>
        <p:spPr>
          <a:xfrm>
            <a:off x="179400" y="4797638"/>
            <a:ext cx="1190582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Step 5: Download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examples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open ‘1-Basic_Blink.ino’</a:t>
            </a:r>
          </a:p>
          <a:p>
            <a:r>
              <a:rPr lang="nl-NL" dirty="0" err="1"/>
              <a:t>https</a:t>
            </a:r>
            <a:r>
              <a:rPr lang="nl-NL" dirty="0"/>
              <a:t>://</a:t>
            </a:r>
            <a:r>
              <a:rPr lang="nl-NL" dirty="0" err="1"/>
              <a:t>github.com</a:t>
            </a:r>
            <a:r>
              <a:rPr lang="nl-NL" dirty="0"/>
              <a:t>/ichingxs4all/Midi-</a:t>
            </a:r>
            <a:r>
              <a:rPr lang="nl-NL" dirty="0" err="1"/>
              <a:t>MusicVilla</a:t>
            </a:r>
            <a:r>
              <a:rPr lang="nl-NL" dirty="0"/>
              <a:t>/releases/download/Resonant_Frequencies_WS2/</a:t>
            </a:r>
            <a:r>
              <a:rPr lang="nl-NL" dirty="0" err="1"/>
              <a:t>Mozzi-MusicVilla.zip</a:t>
            </a:r>
            <a:endParaRPr lang="nl-NL" dirty="0"/>
          </a:p>
        </p:txBody>
      </p:sp>
      <p:sp>
        <p:nvSpPr>
          <p:cNvPr id="5" name="Tekstvak 8">
            <a:extLst>
              <a:ext uri="{FF2B5EF4-FFF2-40B4-BE49-F238E27FC236}">
                <a16:creationId xmlns:a16="http://schemas.microsoft.com/office/drawing/2014/main" id="{D8C68DDF-1DE0-6465-7F73-3B7F52A11922}"/>
              </a:ext>
            </a:extLst>
          </p:cNvPr>
          <p:cNvSpPr txBox="1"/>
          <p:nvPr/>
        </p:nvSpPr>
        <p:spPr>
          <a:xfrm>
            <a:off x="179400" y="5662114"/>
            <a:ext cx="68398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Step 6: </a:t>
            </a:r>
            <a:r>
              <a:rPr lang="nl-NL" dirty="0" err="1"/>
              <a:t>Try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Upload </a:t>
            </a:r>
            <a:r>
              <a:rPr lang="nl-NL" dirty="0" err="1"/>
              <a:t>the</a:t>
            </a:r>
            <a:r>
              <a:rPr lang="nl-NL" dirty="0"/>
              <a:t> Sketch </a:t>
            </a:r>
            <a:r>
              <a:rPr lang="nl-NL" dirty="0" err="1"/>
              <a:t>by</a:t>
            </a:r>
            <a:r>
              <a:rPr lang="nl-NL" dirty="0"/>
              <a:t> pressing </a:t>
            </a:r>
            <a:r>
              <a:rPr lang="nl-NL" dirty="0" err="1"/>
              <a:t>the</a:t>
            </a:r>
            <a:r>
              <a:rPr lang="nl-NL" dirty="0"/>
              <a:t> ‘Arrow Right’ button</a:t>
            </a:r>
          </a:p>
        </p:txBody>
      </p:sp>
    </p:spTree>
    <p:extLst>
      <p:ext uri="{BB962C8B-B14F-4D97-AF65-F5344CB8AC3E}">
        <p14:creationId xmlns:p14="http://schemas.microsoft.com/office/powerpoint/2010/main" val="35733234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73FE64-5DD8-E17F-464B-788C34224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4589"/>
            <a:ext cx="10515600" cy="1325563"/>
          </a:xfrm>
        </p:spPr>
        <p:txBody>
          <a:bodyPr/>
          <a:lstStyle/>
          <a:p>
            <a:r>
              <a:rPr lang="nl-NL" dirty="0" err="1"/>
              <a:t>Arduino</a:t>
            </a:r>
            <a:r>
              <a:rPr lang="nl-NL" dirty="0"/>
              <a:t> Leonardo + Grove </a:t>
            </a:r>
            <a:r>
              <a:rPr lang="nl-NL" dirty="0" err="1"/>
              <a:t>shield</a:t>
            </a:r>
            <a:endParaRPr lang="nl-NL" dirty="0"/>
          </a:p>
        </p:txBody>
      </p:sp>
      <p:pic>
        <p:nvPicPr>
          <p:cNvPr id="9" name="Tijdelijke aanduiding voor inhoud 8" descr="Afbeelding met tekst, elektronica, schermopname, Elektronische engineering&#10;&#10;Door AI gegenereerde inhoud is mogelijk onjuist.">
            <a:extLst>
              <a:ext uri="{FF2B5EF4-FFF2-40B4-BE49-F238E27FC236}">
                <a16:creationId xmlns:a16="http://schemas.microsoft.com/office/drawing/2014/main" id="{5D85458B-A73A-354F-4CF9-3E1808582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87" y="1362348"/>
            <a:ext cx="4582297" cy="5287877"/>
          </a:xfrm>
        </p:spPr>
      </p:pic>
      <p:pic>
        <p:nvPicPr>
          <p:cNvPr id="11" name="Afbeelding 10" descr="Afbeelding met tekst, elektronica, Elektronische engineering, stroomkring&#10;&#10;Door AI gegenereerde inhoud is mogelijk onjuist.">
            <a:extLst>
              <a:ext uri="{FF2B5EF4-FFF2-40B4-BE49-F238E27FC236}">
                <a16:creationId xmlns:a16="http://schemas.microsoft.com/office/drawing/2014/main" id="{D85611F2-6A93-9B87-001F-F37A5E6FD3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8330" y="1703807"/>
            <a:ext cx="5805470" cy="435133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t 2">
                <a:extLst>
                  <a:ext uri="{FF2B5EF4-FFF2-40B4-BE49-F238E27FC236}">
                    <a16:creationId xmlns:a16="http://schemas.microsoft.com/office/drawing/2014/main" id="{354F9884-3721-6972-E375-3A87F0B9E0A3}"/>
                  </a:ext>
                </a:extLst>
              </p14:cNvPr>
              <p14:cNvContentPartPr/>
              <p14:nvPr/>
            </p14:nvContentPartPr>
            <p14:xfrm>
              <a:off x="9578734" y="2221541"/>
              <a:ext cx="947160" cy="1050120"/>
            </p14:xfrm>
          </p:contentPart>
        </mc:Choice>
        <mc:Fallback xmlns="">
          <p:pic>
            <p:nvPicPr>
              <p:cNvPr id="3" name="Inkt 2">
                <a:extLst>
                  <a:ext uri="{FF2B5EF4-FFF2-40B4-BE49-F238E27FC236}">
                    <a16:creationId xmlns:a16="http://schemas.microsoft.com/office/drawing/2014/main" id="{354F9884-3721-6972-E375-3A87F0B9E0A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569734" y="2212901"/>
                <a:ext cx="964800" cy="10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t 3">
                <a:extLst>
                  <a:ext uri="{FF2B5EF4-FFF2-40B4-BE49-F238E27FC236}">
                    <a16:creationId xmlns:a16="http://schemas.microsoft.com/office/drawing/2014/main" id="{76A5436E-FEBF-A89B-7D2D-92545B05FA39}"/>
                  </a:ext>
                </a:extLst>
              </p14:cNvPr>
              <p14:cNvContentPartPr/>
              <p14:nvPr/>
            </p14:nvContentPartPr>
            <p14:xfrm>
              <a:off x="7748854" y="2156381"/>
              <a:ext cx="1025640" cy="1136520"/>
            </p14:xfrm>
          </p:contentPart>
        </mc:Choice>
        <mc:Fallback xmlns="">
          <p:pic>
            <p:nvPicPr>
              <p:cNvPr id="4" name="Inkt 3">
                <a:extLst>
                  <a:ext uri="{FF2B5EF4-FFF2-40B4-BE49-F238E27FC236}">
                    <a16:creationId xmlns:a16="http://schemas.microsoft.com/office/drawing/2014/main" id="{76A5436E-FEBF-A89B-7D2D-92545B05FA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40214" y="2147741"/>
                <a:ext cx="1043280" cy="115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t 4">
                <a:extLst>
                  <a:ext uri="{FF2B5EF4-FFF2-40B4-BE49-F238E27FC236}">
                    <a16:creationId xmlns:a16="http://schemas.microsoft.com/office/drawing/2014/main" id="{775CCCCC-D6B8-22F3-E10C-2A227F490D73}"/>
                  </a:ext>
                </a:extLst>
              </p14:cNvPr>
              <p14:cNvContentPartPr/>
              <p14:nvPr/>
            </p14:nvContentPartPr>
            <p14:xfrm>
              <a:off x="9414574" y="4190741"/>
              <a:ext cx="1354680" cy="1399320"/>
            </p14:xfrm>
          </p:contentPart>
        </mc:Choice>
        <mc:Fallback xmlns="">
          <p:pic>
            <p:nvPicPr>
              <p:cNvPr id="5" name="Inkt 4">
                <a:extLst>
                  <a:ext uri="{FF2B5EF4-FFF2-40B4-BE49-F238E27FC236}">
                    <a16:creationId xmlns:a16="http://schemas.microsoft.com/office/drawing/2014/main" id="{775CCCCC-D6B8-22F3-E10C-2A227F490D7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405574" y="4181741"/>
                <a:ext cx="1372320" cy="141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t 5">
                <a:extLst>
                  <a:ext uri="{FF2B5EF4-FFF2-40B4-BE49-F238E27FC236}">
                    <a16:creationId xmlns:a16="http://schemas.microsoft.com/office/drawing/2014/main" id="{23966C86-9874-95B0-9C45-5D736AA9230D}"/>
                  </a:ext>
                </a:extLst>
              </p14:cNvPr>
              <p14:cNvContentPartPr/>
              <p14:nvPr/>
            </p14:nvContentPartPr>
            <p14:xfrm>
              <a:off x="6193294" y="4291541"/>
              <a:ext cx="1150200" cy="893520"/>
            </p14:xfrm>
          </p:contentPart>
        </mc:Choice>
        <mc:Fallback xmlns="">
          <p:pic>
            <p:nvPicPr>
              <p:cNvPr id="6" name="Inkt 5">
                <a:extLst>
                  <a:ext uri="{FF2B5EF4-FFF2-40B4-BE49-F238E27FC236}">
                    <a16:creationId xmlns:a16="http://schemas.microsoft.com/office/drawing/2014/main" id="{23966C86-9874-95B0-9C45-5D736AA9230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84294" y="4282901"/>
                <a:ext cx="1167840" cy="9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t 6">
                <a:extLst>
                  <a:ext uri="{FF2B5EF4-FFF2-40B4-BE49-F238E27FC236}">
                    <a16:creationId xmlns:a16="http://schemas.microsoft.com/office/drawing/2014/main" id="{0C22D6AB-C2E2-C35B-FB8B-C9D10CACD0B7}"/>
                  </a:ext>
                </a:extLst>
              </p14:cNvPr>
              <p14:cNvContentPartPr/>
              <p14:nvPr/>
            </p14:nvContentPartPr>
            <p14:xfrm>
              <a:off x="6071614" y="3395861"/>
              <a:ext cx="1237320" cy="1013760"/>
            </p14:xfrm>
          </p:contentPart>
        </mc:Choice>
        <mc:Fallback xmlns="">
          <p:pic>
            <p:nvPicPr>
              <p:cNvPr id="7" name="Inkt 6">
                <a:extLst>
                  <a:ext uri="{FF2B5EF4-FFF2-40B4-BE49-F238E27FC236}">
                    <a16:creationId xmlns:a16="http://schemas.microsoft.com/office/drawing/2014/main" id="{0C22D6AB-C2E2-C35B-FB8B-C9D10CACD0B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062974" y="3386861"/>
                <a:ext cx="1254960" cy="103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t 7">
                <a:extLst>
                  <a:ext uri="{FF2B5EF4-FFF2-40B4-BE49-F238E27FC236}">
                    <a16:creationId xmlns:a16="http://schemas.microsoft.com/office/drawing/2014/main" id="{E3DEB4AA-06A9-1432-F871-CD872366DCFE}"/>
                  </a:ext>
                </a:extLst>
              </p14:cNvPr>
              <p14:cNvContentPartPr/>
              <p14:nvPr/>
            </p14:nvContentPartPr>
            <p14:xfrm>
              <a:off x="8635174" y="3264821"/>
              <a:ext cx="839880" cy="1085760"/>
            </p14:xfrm>
          </p:contentPart>
        </mc:Choice>
        <mc:Fallback xmlns="">
          <p:pic>
            <p:nvPicPr>
              <p:cNvPr id="8" name="Inkt 7">
                <a:extLst>
                  <a:ext uri="{FF2B5EF4-FFF2-40B4-BE49-F238E27FC236}">
                    <a16:creationId xmlns:a16="http://schemas.microsoft.com/office/drawing/2014/main" id="{E3DEB4AA-06A9-1432-F871-CD872366DCF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26174" y="3255821"/>
                <a:ext cx="857520" cy="1103400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kstvak 9">
            <a:extLst>
              <a:ext uri="{FF2B5EF4-FFF2-40B4-BE49-F238E27FC236}">
                <a16:creationId xmlns:a16="http://schemas.microsoft.com/office/drawing/2014/main" id="{F92C0471-F5FB-2B9B-184A-31EA3D232A7D}"/>
              </a:ext>
            </a:extLst>
          </p:cNvPr>
          <p:cNvSpPr txBox="1"/>
          <p:nvPr/>
        </p:nvSpPr>
        <p:spPr>
          <a:xfrm>
            <a:off x="9359040" y="2561935"/>
            <a:ext cx="18267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MIDI INTERFACE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8E259FEA-56C4-4DCE-8395-453C0DA433A5}"/>
              </a:ext>
            </a:extLst>
          </p:cNvPr>
          <p:cNvSpPr txBox="1"/>
          <p:nvPr/>
        </p:nvSpPr>
        <p:spPr>
          <a:xfrm>
            <a:off x="9444814" y="4324126"/>
            <a:ext cx="1354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DISTANCE SENSOR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98FF61A-AD71-6101-E9A2-4A710FB9A19A}"/>
              </a:ext>
            </a:extLst>
          </p:cNvPr>
          <p:cNvSpPr txBox="1"/>
          <p:nvPr/>
        </p:nvSpPr>
        <p:spPr>
          <a:xfrm>
            <a:off x="8635174" y="3418115"/>
            <a:ext cx="916560" cy="654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2"/>
                </a:solidFill>
                <a:highlight>
                  <a:srgbClr val="FFFF00"/>
                </a:highlight>
              </a:rPr>
              <a:t>Touch button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311D2EED-4D01-F9D8-4BA0-B1A8B5D72EDF}"/>
              </a:ext>
            </a:extLst>
          </p:cNvPr>
          <p:cNvSpPr txBox="1"/>
          <p:nvPr/>
        </p:nvSpPr>
        <p:spPr>
          <a:xfrm>
            <a:off x="7886284" y="2614462"/>
            <a:ext cx="947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LED</a:t>
            </a:r>
          </a:p>
        </p:txBody>
      </p:sp>
      <p:sp>
        <p:nvSpPr>
          <p:cNvPr id="15" name="Tekstvak 14">
            <a:extLst>
              <a:ext uri="{FF2B5EF4-FFF2-40B4-BE49-F238E27FC236}">
                <a16:creationId xmlns:a16="http://schemas.microsoft.com/office/drawing/2014/main" id="{FA5A3FEB-D6A5-6D2C-ECD5-918BBEE61375}"/>
              </a:ext>
            </a:extLst>
          </p:cNvPr>
          <p:cNvSpPr txBox="1"/>
          <p:nvPr/>
        </p:nvSpPr>
        <p:spPr>
          <a:xfrm>
            <a:off x="6436859" y="4521069"/>
            <a:ext cx="11960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Potmeter</a:t>
            </a:r>
          </a:p>
        </p:txBody>
      </p:sp>
      <p:sp>
        <p:nvSpPr>
          <p:cNvPr id="16" name="Tekstvak 15">
            <a:extLst>
              <a:ext uri="{FF2B5EF4-FFF2-40B4-BE49-F238E27FC236}">
                <a16:creationId xmlns:a16="http://schemas.microsoft.com/office/drawing/2014/main" id="{7DBEC77B-8E6D-F4BC-0B01-D217CC32C986}"/>
              </a:ext>
            </a:extLst>
          </p:cNvPr>
          <p:cNvSpPr txBox="1"/>
          <p:nvPr/>
        </p:nvSpPr>
        <p:spPr>
          <a:xfrm>
            <a:off x="6516652" y="3745474"/>
            <a:ext cx="1150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chemeClr val="bg1"/>
                </a:solidFill>
                <a:highlight>
                  <a:srgbClr val="FFFF00"/>
                </a:highlight>
              </a:rPr>
              <a:t>LDR</a:t>
            </a:r>
          </a:p>
        </p:txBody>
      </p:sp>
    </p:spTree>
    <p:extLst>
      <p:ext uri="{BB962C8B-B14F-4D97-AF65-F5344CB8AC3E}">
        <p14:creationId xmlns:p14="http://schemas.microsoft.com/office/powerpoint/2010/main" val="1473786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A6FA70-5678-4E6B-8D80-5F5D46CB7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Sensors &amp; MIDI interface </a:t>
            </a:r>
            <a:r>
              <a:rPr lang="nl-NL" dirty="0" err="1"/>
              <a:t>used</a:t>
            </a:r>
            <a:endParaRPr lang="nl-NL" dirty="0"/>
          </a:p>
        </p:txBody>
      </p:sp>
      <p:pic>
        <p:nvPicPr>
          <p:cNvPr id="5" name="Tijdelijke aanduiding voor inhoud 4" descr="Afbeelding met schroevendraaier, gereedschap&#10;&#10;Door AI gegenereerde inhoud is mogelijk onjuist.">
            <a:extLst>
              <a:ext uri="{FF2B5EF4-FFF2-40B4-BE49-F238E27FC236}">
                <a16:creationId xmlns:a16="http://schemas.microsoft.com/office/drawing/2014/main" id="{9D2CED9E-DD8E-B8C9-B2A8-FCCFF6F1A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42202" y="1524000"/>
            <a:ext cx="1905000" cy="1905000"/>
          </a:xfrm>
        </p:spPr>
      </p:pic>
      <p:pic>
        <p:nvPicPr>
          <p:cNvPr id="7" name="Afbeelding 6" descr="Afbeelding met schermopname, cirkel&#10;&#10;Door AI gegenereerde inhoud is mogelijk onjuist.">
            <a:extLst>
              <a:ext uri="{FF2B5EF4-FFF2-40B4-BE49-F238E27FC236}">
                <a16:creationId xmlns:a16="http://schemas.microsoft.com/office/drawing/2014/main" id="{28AFEFEA-DDF9-845E-39AD-3E404111C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54" y="1520134"/>
            <a:ext cx="2547553" cy="1909452"/>
          </a:xfrm>
          <a:prstGeom prst="rect">
            <a:avLst/>
          </a:prstGeom>
        </p:spPr>
      </p:pic>
      <p:pic>
        <p:nvPicPr>
          <p:cNvPr id="9" name="Afbeelding 8" descr="Afbeelding met elektronica, Elektronisch onderdeel, Stroomkringonderdeel, Passief stroomkringonderdeel&#10;&#10;Door AI gegenereerde inhoud is mogelijk onjuist.">
            <a:extLst>
              <a:ext uri="{FF2B5EF4-FFF2-40B4-BE49-F238E27FC236}">
                <a16:creationId xmlns:a16="http://schemas.microsoft.com/office/drawing/2014/main" id="{4197BF6F-B249-D6E3-53A3-D03169B8ED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4641069" y="4180901"/>
            <a:ext cx="2111100" cy="2512850"/>
          </a:xfrm>
          <a:prstGeom prst="rect">
            <a:avLst/>
          </a:prstGeom>
        </p:spPr>
      </p:pic>
      <p:pic>
        <p:nvPicPr>
          <p:cNvPr id="11" name="Afbeelding 10" descr="Afbeelding met tube&#10;&#10;Door AI gegenereerde inhoud is mogelijk onjuist.">
            <a:extLst>
              <a:ext uri="{FF2B5EF4-FFF2-40B4-BE49-F238E27FC236}">
                <a16:creationId xmlns:a16="http://schemas.microsoft.com/office/drawing/2014/main" id="{6598A7F4-03EF-9B7A-0047-F96A1F68CD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1035" y="1524000"/>
            <a:ext cx="1905000" cy="1905000"/>
          </a:xfrm>
          <a:prstGeom prst="rect">
            <a:avLst/>
          </a:prstGeom>
        </p:spPr>
      </p:pic>
      <p:pic>
        <p:nvPicPr>
          <p:cNvPr id="13" name="Afbeelding 12">
            <a:extLst>
              <a:ext uri="{FF2B5EF4-FFF2-40B4-BE49-F238E27FC236}">
                <a16:creationId xmlns:a16="http://schemas.microsoft.com/office/drawing/2014/main" id="{C7E9744D-DA99-E27A-40CD-948BB26C7D5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03721" y="1520134"/>
            <a:ext cx="1620795" cy="1908866"/>
          </a:xfrm>
          <a:prstGeom prst="rect">
            <a:avLst/>
          </a:prstGeom>
        </p:spPr>
      </p:pic>
      <p:pic>
        <p:nvPicPr>
          <p:cNvPr id="15" name="Afbeelding 14" descr="Afbeelding met tekst, elektronica, Stroomkringonderdeel, Elektronische engineering&#10;&#10;Door AI gegenereerde inhoud is mogelijk onjuist.">
            <a:extLst>
              <a:ext uri="{FF2B5EF4-FFF2-40B4-BE49-F238E27FC236}">
                <a16:creationId xmlns:a16="http://schemas.microsoft.com/office/drawing/2014/main" id="{F64CDDC6-93CD-34D3-45D5-5369563648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319" y="1520134"/>
            <a:ext cx="1905000" cy="1905000"/>
          </a:xfrm>
          <a:prstGeom prst="rect">
            <a:avLst/>
          </a:prstGeom>
        </p:spPr>
      </p:pic>
      <p:sp>
        <p:nvSpPr>
          <p:cNvPr id="4" name="Tekstvak 3">
            <a:extLst>
              <a:ext uri="{FF2B5EF4-FFF2-40B4-BE49-F238E27FC236}">
                <a16:creationId xmlns:a16="http://schemas.microsoft.com/office/drawing/2014/main" id="{6F84A9D6-5941-9697-816C-461868EAC566}"/>
              </a:ext>
            </a:extLst>
          </p:cNvPr>
          <p:cNvSpPr txBox="1"/>
          <p:nvPr/>
        </p:nvSpPr>
        <p:spPr>
          <a:xfrm>
            <a:off x="1426108" y="3643110"/>
            <a:ext cx="9622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/>
              <a:t>LED</a:t>
            </a:r>
          </a:p>
        </p:txBody>
      </p:sp>
      <p:sp>
        <p:nvSpPr>
          <p:cNvPr id="6" name="Tekstvak 5">
            <a:extLst>
              <a:ext uri="{FF2B5EF4-FFF2-40B4-BE49-F238E27FC236}">
                <a16:creationId xmlns:a16="http://schemas.microsoft.com/office/drawing/2014/main" id="{D42E24BC-D9D9-1A3F-225B-3376E095B0A9}"/>
              </a:ext>
            </a:extLst>
          </p:cNvPr>
          <p:cNvSpPr txBox="1"/>
          <p:nvPr/>
        </p:nvSpPr>
        <p:spPr>
          <a:xfrm>
            <a:off x="2747159" y="3643110"/>
            <a:ext cx="213391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/>
              <a:t>POTMETER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D3FB7CA9-11E8-1AF6-6544-CA95FD986A4A}"/>
              </a:ext>
            </a:extLst>
          </p:cNvPr>
          <p:cNvSpPr txBox="1"/>
          <p:nvPr/>
        </p:nvSpPr>
        <p:spPr>
          <a:xfrm>
            <a:off x="5273312" y="3613000"/>
            <a:ext cx="92044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/>
              <a:t>LDR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03E5AF6A-9B5F-A3A4-773D-C9E14A93921E}"/>
              </a:ext>
            </a:extLst>
          </p:cNvPr>
          <p:cNvSpPr txBox="1"/>
          <p:nvPr/>
        </p:nvSpPr>
        <p:spPr>
          <a:xfrm>
            <a:off x="6686035" y="3578183"/>
            <a:ext cx="3110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/>
              <a:t>TOUCH BUTTON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9E4EBD1-2229-B480-D255-2E24C0378985}"/>
              </a:ext>
            </a:extLst>
          </p:cNvPr>
          <p:cNvSpPr txBox="1"/>
          <p:nvPr/>
        </p:nvSpPr>
        <p:spPr>
          <a:xfrm>
            <a:off x="1194073" y="5089034"/>
            <a:ext cx="310617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/>
              <a:t>MIDI INTERFACE</a:t>
            </a:r>
          </a:p>
        </p:txBody>
      </p:sp>
      <p:sp>
        <p:nvSpPr>
          <p:cNvPr id="14" name="Tekstvak 13">
            <a:extLst>
              <a:ext uri="{FF2B5EF4-FFF2-40B4-BE49-F238E27FC236}">
                <a16:creationId xmlns:a16="http://schemas.microsoft.com/office/drawing/2014/main" id="{68CFFB45-3919-5647-57CD-523405735C85}"/>
              </a:ext>
            </a:extLst>
          </p:cNvPr>
          <p:cNvSpPr txBox="1"/>
          <p:nvPr/>
        </p:nvSpPr>
        <p:spPr>
          <a:xfrm>
            <a:off x="8717394" y="4311555"/>
            <a:ext cx="34746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3200" dirty="0"/>
              <a:t>AFSTAND SENSOR</a:t>
            </a:r>
          </a:p>
        </p:txBody>
      </p:sp>
    </p:spTree>
    <p:extLst>
      <p:ext uri="{BB962C8B-B14F-4D97-AF65-F5344CB8AC3E}">
        <p14:creationId xmlns:p14="http://schemas.microsoft.com/office/powerpoint/2010/main" val="172418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0A7A2C-ADB8-B985-E3DF-89A2726F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sure</a:t>
            </a:r>
            <a:r>
              <a:rPr lang="nl-NL" dirty="0"/>
              <a:t> !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F84A152-D15A-7015-B65F-B29E671C76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 err="1"/>
              <a:t>Don’t</a:t>
            </a:r>
            <a:r>
              <a:rPr lang="nl-NL" dirty="0"/>
              <a:t> </a:t>
            </a:r>
            <a:r>
              <a:rPr lang="nl-NL" dirty="0" err="1"/>
              <a:t>connect</a:t>
            </a:r>
            <a:r>
              <a:rPr lang="nl-NL" dirty="0"/>
              <a:t> </a:t>
            </a:r>
            <a:r>
              <a:rPr lang="nl-NL" dirty="0" err="1"/>
              <a:t>anything</a:t>
            </a:r>
            <a:r>
              <a:rPr lang="nl-NL" dirty="0"/>
              <a:t> </a:t>
            </a:r>
            <a:r>
              <a:rPr lang="nl-NL" dirty="0" err="1"/>
              <a:t>while</a:t>
            </a:r>
            <a:r>
              <a:rPr lang="nl-NL" dirty="0"/>
              <a:t> </a:t>
            </a:r>
            <a:r>
              <a:rPr lang="nl-NL" dirty="0" err="1"/>
              <a:t>powered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USB</a:t>
            </a:r>
          </a:p>
          <a:p>
            <a:r>
              <a:rPr lang="nl-NL" dirty="0" err="1"/>
              <a:t>Don’t</a:t>
            </a:r>
            <a:r>
              <a:rPr lang="nl-NL" dirty="0"/>
              <a:t> set </a:t>
            </a:r>
            <a:r>
              <a:rPr lang="nl-NL" dirty="0" err="1"/>
              <a:t>the</a:t>
            </a:r>
            <a:r>
              <a:rPr lang="nl-NL" dirty="0"/>
              <a:t> switch on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shield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5V..keep </a:t>
            </a:r>
            <a:r>
              <a:rPr lang="nl-NL" dirty="0" err="1"/>
              <a:t>it</a:t>
            </a:r>
            <a:r>
              <a:rPr lang="nl-NL" dirty="0"/>
              <a:t> on 3.3V</a:t>
            </a:r>
          </a:p>
          <a:p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sensors do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touch</a:t>
            </a:r>
            <a:r>
              <a:rPr lang="nl-NL" dirty="0"/>
              <a:t> </a:t>
            </a:r>
            <a:r>
              <a:rPr lang="nl-NL" dirty="0" err="1"/>
              <a:t>anything</a:t>
            </a:r>
            <a:r>
              <a:rPr lang="nl-NL" dirty="0"/>
              <a:t> metal</a:t>
            </a:r>
          </a:p>
          <a:p>
            <a:r>
              <a:rPr lang="nl-NL" dirty="0" err="1"/>
              <a:t>Ask</a:t>
            </a:r>
            <a:r>
              <a:rPr lang="nl-NL" dirty="0"/>
              <a:t> </a:t>
            </a:r>
            <a:r>
              <a:rPr lang="nl-NL" dirty="0" err="1"/>
              <a:t>if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sure</a:t>
            </a:r>
            <a:r>
              <a:rPr lang="nl-NL" dirty="0"/>
              <a:t> ;-)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016665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C50D905-7C47-2777-7845-C3923AB58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5852"/>
          </a:xfrm>
        </p:spPr>
        <p:txBody>
          <a:bodyPr/>
          <a:lstStyle/>
          <a:p>
            <a:pPr algn="ctr"/>
            <a:r>
              <a:rPr lang="nl-NL" dirty="0"/>
              <a:t>Have Fun </a:t>
            </a:r>
            <a:r>
              <a:rPr lang="nl-NL" dirty="0" err="1"/>
              <a:t>and</a:t>
            </a:r>
            <a:r>
              <a:rPr lang="nl-NL" dirty="0"/>
              <a:t> Rock On !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5922AF3-F5F4-E118-2F7E-E64D81132E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191841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2FB6A-A3D4-3180-EBD9-A6537D786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0FEBB0-C35A-0EEF-E403-2F938068B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25852"/>
          </a:xfrm>
        </p:spPr>
        <p:txBody>
          <a:bodyPr/>
          <a:lstStyle/>
          <a:p>
            <a:pPr algn="ctr"/>
            <a:r>
              <a:rPr lang="nl-NL" dirty="0"/>
              <a:t>Have Fun </a:t>
            </a:r>
            <a:r>
              <a:rPr lang="nl-NL" dirty="0" err="1"/>
              <a:t>and</a:t>
            </a:r>
            <a:r>
              <a:rPr lang="nl-NL" dirty="0"/>
              <a:t> Rock On !</a:t>
            </a:r>
          </a:p>
        </p:txBody>
      </p:sp>
      <p:pic>
        <p:nvPicPr>
          <p:cNvPr id="13" name="Content Placeholder 12" descr="A diagram of a machine&#10;&#10;AI-generated content may be incorrect.">
            <a:extLst>
              <a:ext uri="{FF2B5EF4-FFF2-40B4-BE49-F238E27FC236}">
                <a16:creationId xmlns:a16="http://schemas.microsoft.com/office/drawing/2014/main" id="{FB60CB91-9596-B6C0-762B-1E643A4960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64628" y="1457325"/>
            <a:ext cx="105156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054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76121B-620B-BAE1-E927-18859CECCD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06B0135-99EC-80F3-ADEB-629C5A126F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B914DAF-769F-3426-D683-C7EB7043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About MoZZi</a:t>
            </a:r>
            <a:b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AB93D8F-14B4-3888-D503-E7ABD7F6A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033FCF9-4878-855A-5A37-B88572B29E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C5C2299-1BBA-01FD-4295-E47D808F71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820472E-C950-D2FB-0398-E60427D259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56C9747D-F5AE-36C1-A138-963AB8AC3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2A66BA-C0DC-F2C3-08C2-5868F633C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B7B28E-A2EB-B6AC-A7C2-D69B44A2FA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03833"/>
            <a:ext cx="10515600" cy="1773129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hlinkClick r:id="rId2"/>
              </a:rPr>
              <a:t>https://sensorium.github.io/Mozzi/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>
                <a:hlinkClick r:id="rId3"/>
              </a:rPr>
              <a:t>https://thewessens.net/synthbook/ - constructive-synthesis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83920416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thema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Kantoorthema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them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1523</TotalTime>
  <Words>251</Words>
  <Application>Microsoft Macintosh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Kantoorthema</vt:lpstr>
      <vt:lpstr>Arduino &amp; Mozzi</vt:lpstr>
      <vt:lpstr>Arduino &amp; Mozzi</vt:lpstr>
      <vt:lpstr>Arduino Leonardo + Grove shield</vt:lpstr>
      <vt:lpstr>Sensors &amp; MIDI interface used</vt:lpstr>
      <vt:lpstr>To be sure !</vt:lpstr>
      <vt:lpstr>Have Fun and Rock On !</vt:lpstr>
      <vt:lpstr>Have Fun and Rock On !</vt:lpstr>
      <vt:lpstr>About MoZZi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 Gutlich</dc:creator>
  <cp:lastModifiedBy>Michel Gutlich</cp:lastModifiedBy>
  <cp:revision>9</cp:revision>
  <dcterms:created xsi:type="dcterms:W3CDTF">2025-11-12T15:17:33Z</dcterms:created>
  <dcterms:modified xsi:type="dcterms:W3CDTF">2026-02-25T14:24:25Z</dcterms:modified>
</cp:coreProperties>
</file>