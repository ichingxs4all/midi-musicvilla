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71" r:id="rId3"/>
    <p:sldId id="258" r:id="rId4"/>
    <p:sldId id="259" r:id="rId5"/>
    <p:sldId id="260" r:id="rId6"/>
    <p:sldId id="261" r:id="rId7"/>
    <p:sldId id="268" r:id="rId8"/>
    <p:sldId id="264" r:id="rId9"/>
    <p:sldId id="263" r:id="rId10"/>
    <p:sldId id="267" r:id="rId11"/>
    <p:sldId id="265" r:id="rId12"/>
    <p:sldId id="266" r:id="rId13"/>
    <p:sldId id="270" r:id="rId14"/>
    <p:sldId id="269" r:id="rId15"/>
    <p:sldId id="25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52"/>
    <p:restoredTop sz="94694"/>
  </p:normalViewPr>
  <p:slideViewPr>
    <p:cSldViewPr snapToGrid="0">
      <p:cViewPr varScale="1">
        <p:scale>
          <a:sx n="121" d="100"/>
          <a:sy n="121" d="100"/>
        </p:scale>
        <p:origin x="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39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1944 241 24575,'-26'-15'0,"-16"-14"0,-20-12 0,-10-6 0,-7 5 0,1 12 0,6 9 0,7 10 0,11 8 0,-4 2 0,-10 1 0,-5 0 0,-1 0 0,0 0 0,5 0 0,4 0 0,6 0 0,10 0 0,7 0 0,4 0 0,-1 0 0,-5 1 0,-8 7 0,-5 12 0,-1 11 0,4 7 0,9 2 0,5 8 0,4 14 0,-3 19 0,17-29 0,1 1 0,0 4 0,0 1 0,0 2 0,1-1 0,0-2 0,1-1 0,3-6 0,1 0 0,-12 39 0,8-3 0,8 6 0,7-41 0,2 2 0,1 6 0,0 0 0,2 3 0,1-1 0,2-1 0,1-2 0,10 39 0,2-20 0,0-17 0,-8-13 0,-3-2 0,0 1 0,-2 6 0,6 11 0,4 7 0,7 3 0,10-2 0,9-7 0,7-6 0,3-8 0,4-5 0,4 1 0,2-1 0,3-2 0,-4 1 0,1-2 0,-4 0 0,-6-3 0,-4-5 0,-2-9 0,14-8 0,24-10 0,-26-4 0,6-4 0,13-3 0,4-5 0,10-4 0,1-4 0,2-6 0,-2-3 0,-6-3 0,-3-3 0,-11 4 0,-4-1 0,-9 3 0,-3-1 0,-7 4 0,-2 1 0,35-19 0,-10 5 0,-9 4 0,-6 0 0,-8-2 0,-4-5 0,-7-10 0,-5-9 0,-1-16 0,-6-11 0,-8-12 0,-10 45 0,-3-1 0,-1 1 0,-2 0 0,0-44 0,0 10 0,0 11 0,-6 5 0,-8-4 0,-12-5 0,-11-11 0,16 42 0,0-1 0,-1-1 0,1 0 0,0 2 0,1 2 0,-12-33 0,7 13 0,6 17 0,6 9 0,1 8 0,0 7 0,-2 1 0,-6 2 0,-11-6 0,-4-7 0,-8-8 0,-4-8 0,1-8 0,3-1 0,6 9 0,6 12 0,8 14 0,2 10 0,3 4 0,3 5 0,0 3 0,3 0 0,2 3 0,1 0 0,2-1 0,1-2 0,2-3 0,2-1 0,-3 0 0,4 2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43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1756 69 24575,'-20'0'0,"-6"0"0,-20 0 0,-20 0 0,-17 0 0,32 0 0,-2 0 0,-1 1 0,-2 1 0,-4 2 0,-1 3 0,-2 5 0,1 3 0,1 5 0,2 4 0,-1 6 0,0 3 0,1 3 0,1 3 0,1 1 0,1 0 0,3 2 0,2 0 0,5-1 0,3-1 0,7-2 0,3-1 0,-19 30 0,13-5 0,11-2 0,1 3 0,2 5 0,1 4 0,1 8 0,4 9 0,-3 6 0,12-45 0,0 0 0,-9 46 0,4-7 0,8-5 0,5-10 0,2 5 0,0 4 0,4 8 0,9 5 0,8-2 0,8-10 0,11-8 0,13 0 0,-17-37 0,3 0 0,5 2 0,1 1 0,0 0 0,0 0 0,-4-5 0,-1-1 0,21 24 0,-12-12 0,-7-10 0,-2-4 0,1-1 0,-2-2 0,-3 0 0,3-3 0,0-2 0,3-1 0,8 0 0,9-2 0,14-5 0,10-4 0,5-7 0,6-3 0,-44-1 0,1-3 0,0-2 0,0-3 0,2-3 0,0-3 0,-3-4 0,0-2 0,-3-3 0,0 0 0,42-18 0,-5 2 0,-3 1 0,0-2 0,3-4 0,-1-5 0,-3-3 0,-10-3 0,-11 4 0,-11 2 0,-6 2 0,-3 1 0,-5-2 0,-4-2 0,-2-2 0,-8-5 0,-5-10 0,-8-16 0,-8 30 0,-4-2 0,-6-10 0,-5-3 0,-5-8 0,-5-1 0,-5-2 0,-2-1 0,-3 0 0,0 2 0,3 4 0,1 3 0,1 6 0,1 3 0,2 7 0,1 1 0,3 6 0,-1 0 0,-22-39 0,3 0 0,0 0 0,4 11 0,5 12 0,8 13 0,5 10 0,4 5 0,4 2 0,-2-2 0,-2-3 0,-5-5 0,-7-3 0,-7-2 0,-3-4 0,0 4 0,-1 1 0,1 6 0,1 7 0,-2 8 0,3 10 0,4 6 0,5 6 0,5 2 0,2 0 0,-2 0 0,0-2 0,1-1 0,2-2 0,3-2 0,1 1 0,-1-1 0,-6-1 0,-8-1 0,-6-1 0,-3 1 0,2 4 0,9 3 0,12 2 0,9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49.8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2271 0 24575,'-33'0'0,"-14"0"0,-26 0 0,-14 0 0,28 1 0,-3-1 0,0 2 0,-1 1 0,2 1 0,2-1 0,1 1 0,2 0 0,-33 2 0,0-4 0,-5-2 0,-1 0 0,7 0 0,12 0 0,17 0 0,11 0 0,3 0 0,-1 0 0,0 3 0,-5 7 0,-4 10 0,-5 16 0,-8 20 0,30-20 0,0 3 0,-1 7 0,0 2 0,-3 5 0,0 2 0,2 1 0,1 1 0,2-1 0,2-1 0,4-7 0,2-2 0,-15 30 0,15-13 0,16 2 0,7 9 0,6 21 0,0-42 0,0 2 0,0 4 0,0 3 0,0 6 0,0 1 0,0 2 0,0 0 0,0 4 0,0 2 0,-1 2 0,2 0 0,1 1 0,2 0 0,2 0 0,4 0 0,4-1 0,4 0 0,7-2 0,5-1 0,6 1 0,5-2 0,6 4 0,4-2 0,1-3 0,0-1 0,0-5 0,-2-2 0,-6-8 0,-2-4 0,-7-8 0,-1-3 0,22 27 0,-7-10 0,1-2 0,4 2 0,8 3 0,4-4 0,2-5 0,3-11 0,5-12 0,7-13 0,8-10 0,-41-7 0,1-1 0,4 1 0,2-2 0,7-4 0,3-2 0,3-4 0,1-2 0,4-5 0,2-2 0,2-7 0,0-1 0,-2-1 0,-1-2 0,-2-1 0,-2-2 0,-5 0 0,-1 0 0,-5 1 0,0-2 0,-1-1 0,-2-2 0,0-4 0,-1-2 0,-1-5 0,-2-3 0,-4-2 0,-3-4 0,0-4 0,-3-4 0,0-7 0,-2-4 0,-1-6 0,-1-3 0,-1-4 0,-2-2 0,-2-1 0,-2-1 0,-3 3 0,-2 1 0,-4 7 0,-2 3 0,-2 6 0,-2 4 0,-4 13 0,-2 5 0,5-26 0,-7 20 0,-7 11 0,-1-6 0,-2-12 0,-6-15 0,-5-15 0,5 44 0,-1 0 0,-1 1 0,1-1 0,-9-45 0,1 10 0,-6 3 0,-7 4 0,-5 5 0,-13 3 0,-11 10 0,-11 2 0,-11 3 0,36 29 0,-2 1 0,-2 1 0,-1 1 0,2 1 0,0 3 0,-44-15 0,7 7 0,7 5 0,4 9 0,9 4 0,8 4 0,9 2 0,3 1 0,-3 0 0,-2 3 0,-6 0 0,-5 0 0,-1 0 0,0 0 0,1 0 0,4 0 0,1 0 0,2 0 0,9 0 0,4 0 0,5 0 0,2 0 0,1 0 0,3 0 0,10 6 0,8-5 0,6 5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55.1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2501 214 24575,'-67'-9'0,"-25"-13"0,32 5 0,-4-3 0,-5-1 0,-1-2 0,4 2 0,2 2 0,9 4 0,1 3 0,-44-2 0,9 8 0,0 6 0,-2-3 0,3-1 0,-1 0 0,0 1 0,9 3 0,10 0 0,11 0 0,8 0 0,-2 0 0,1 0 0,1 0 0,5 2 0,4 9 0,-1 15 0,0 16 0,-2 13 0,-3 9 0,-4 5 0,24-28 0,0 1 0,-2 3 0,0 1 0,-2 1 0,-1 1 0,2-1 0,0-2 0,-23 31 0,10-18 0,18-19 0,10-13 0,9-6 0,5 0 0,2 3 0,0 8 0,-2 10 0,-1 13 0,-3 7 0,-3 0 0,-3 3 0,-4-1 0,1-2 0,4-2 0,5-4 0,6-2 0,0-1 0,2-1 0,8 1 0,19 3 0,14 1 0,11-2 0,0-6 0,-7-10 0,-3-5 0,-5-3 0,-6-3 0,-2 0 0,0 2 0,4 3 0,5 5 0,0 0 0,2 1 0,-2 2 0,2-1 0,1-1 0,-4-5 0,5-3 0,7-3 0,13-3 0,9-2 0,2-6 0,0-5 0,-5-5 0,4-3 0,10-3 0,12 0 0,-41 1 0,2-2 0,3 0 0,1-2 0,0-3 0,-1-1 0,-1-2 0,-2-1 0,-5-1 0,-2-2 0,42-13 0,-10-1 0,-1-5 0,8-6 0,-38 17 0,1-1 0,4 1 0,0 0 0,1 1 0,0 2 0,-3 2 0,-2 1 0,35-8 0,-23 6 0,-17-1 0,-17-2 0,-9-11 0,-5-21 0,-7-29 0,-7 29 0,-1-2 0,1-6 0,-1 0 0,-1 1 0,0 1 0,0-39 0,2 21 0,6 18 0,3 11 0,6 2 0,3-6 0,0-4 0,0 0 0,-8 2 0,-5 6 0,-5 1 0,-9-5 0,-13 2 0,-11-1 0,-11 8 0,-5 6 0,0 5 0,0 6 0,1 2 0,3 5 0,4 1 0,-2-1 0,2 1 0,4-2 0,2 0 0,8 3 0,3 0 0,2 1 0,1 3 0,0 0 0,-1 3 0,2 0 0,4 3 0,3 1 0,3 2 0,-1 0 0,-1 1 0,0-1 0,2-1 0,4 3 0,2-2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5:00.0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2949 568 24575,'-16'-13'0,"-7"-8"0,-16-12 0,-24-13 0,-17-8 0,32 25 0,-4-1 0,-7-3 0,-3 1 0,-3-1 0,-1 2 0,-3 2 0,-1 1 0,-1 0 0,0 2 0,2 5 0,1 3 0,1 2 0,1 1 0,3 4 0,0 2 0,4 4 0,0 2 0,5 1 0,0 0 0,1 2 0,1 2 0,-1 1 0,1 3 0,-2 1 0,1 3 0,0 2 0,1 2 0,1 0 0,1 0 0,-37 10 0,16-9 0,17-7 0,14-6 0,9-2 0,6 0 0,-2 3 0,-4 3 0,-5 5 0,-6 8 0,1 9 0,3 14 0,-1 14 0,-2 19 0,19-31 0,-2 3 0,-5 6 0,-1 3 0,-2 4 0,0 0 0,0 0 0,1-1 0,3-5 0,2-1 0,-8 34 0,15-16 0,12-3 0,7 1 0,0 6 0,1 8 0,5-5 0,9 0 0,7-5 0,3-1 0,-4 1 0,-6 0 0,-5-6 0,-2-5 0,1-9 0,6-3 0,4-1 0,6 5 0,4 1 0,3-1 0,5 0 0,3-5 0,3-3 0,0-1 0,-4-2 0,-2-2 0,0 0 0,3-3 0,3 0 0,7-4 0,12-2 0,16-1 0,17-7 0,-40-15 0,3-2 0,4-2 0,1-2 0,0-3 0,1 0 0,1 0 0,0 0 0,-5 0 0,-1 0 0,-5 0 0,-2 0 0,47 1 0,-8 3 0,-40-2 0,1-1 0,5 1 0,2 0 0,6-1 0,3 0 0,7-1 0,1 0 0,4 0 0,0 0 0,1 0 0,-1 0 0,-7-2 0,-2-2 0,-11-2 0,-4-2 0,35-16 0,-21-9 0,-13-5 0,-10-3 0,-7-3 0,-7-3 0,-3 1 0,-3 0 0,-3 1 0,-1 2 0,-2-1 0,0-5 0,-2-7 0,-4-9 0,-2-7 0,-6-6 0,-2-6 0,-2-15 0,-6 45 0,-3 0 0,-2-4 0,-4 0 0,-2-1 0,-2 0 0,-2 5 0,0 1 0,1 5 0,1 1 0,-13-34 0,2 14 0,2 10 0,-3 7 0,0 6 0,-2 2 0,0-1 0,3 0 0,0-2 0,1 6 0,-1 3 0,1 5 0,3 9 0,-1 1 0,-1 2 0,-3-4 0,3-4 0,6-1 0,6 3 0,7 5 0,0 8 0,3 2 0,-2 2 0,0 0 0,-2 1 0,-3-2 0,1 2 0,-1-2 0,0-4 0,6 7 0,-3-2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5:06.0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1741 161 24575,'-22'0'0,"-13"0"0,-18 0 0,-24 0 0,10-4 0,-7-1 0,-10-1 0,-4-3 0,-4-2 0,0-2 0,5-1 0,5-2 0,25 4 0,3-1 0,-40-11 0,18 8 0,13 6 0,16 4 0,8 4 0,9 2 0,1 0 0,2 0 0,3 0 0,-3 0 0,3 3 0,-6 5 0,-5 7 0,-4 5 0,-2 4 0,3-1 0,4-1 0,8-1 0,6 4 0,6 8 0,5 15 0,2 22 0,5 24 0,1-35 0,1 4 0,0 9 0,0 1 0,0 7 0,0 0 0,-1 1 0,2-2 0,0-4 0,1-3 0,1-8 0,2-3 0,1-9 0,2-3 0,9 29 0,-1-16 0,-4-7 0,-3 6 0,-3 10 0,2 11 0,1 4 0,0-2 0,7-5 0,1 0 0,5 9 0,7 3 0,-12-41 0,1 1 0,4 0 0,2-2 0,4 0 0,1-2 0,1-1 0,1-2 0,30 31 0,1-13 0,-5-14 0,7-11 0,7-5 0,6-5 0,7-4 0,3-4 0,1-7 0,6-5 0,-44-5 0,1-1 0,-1 0 0,1-1 0,2-4 0,0-3 0,-2-5 0,-2-4 0,-2-5 0,-1-5 0,-1-6 0,-2-2 0,-3-2 0,-2-1 0,-2 0 0,-2-1 0,27-33 0,-13 11 0,-12 8 0,-6 10 0,-2 5 0,-1-2 0,-1 1 0,1-4 0,0 0 0,0-4 0,0-5 0,-2-1 0,-1 2 0,-4 7 0,-6 5 0,-7 2 0,-5-2 0,-2-5 0,0-3 0,0-4 0,0 1 0,-3-1 0,-5-3 0,-9-6 0,-6-6 0,-4-3 0,0 3 0,0 2 0,1-1 0,-4-2 0,-3-5 0,-3 1 0,-2 1 0,1 6 0,1 6 0,3 8 0,0 4 0,0 2 0,-2 0 0,-4-1 0,-4 4 0,-3-1 0,-1 4 0,2 4 0,5 5 0,5 5 0,5 6 0,7 2 0,0 0 0,4 0 0,1-6 0,0-2 0,0-2 0,-1 0 0,3 4 0,3 0 0,3 3 0,0 1 0,0 3 0,-2 1 0,2 3 0,1 2 0,1 0 0,2 0 0,-4-3 0,-4-2 0,-3-4 0,-1-2 0,0 2 0,3 3 0,4 6 0,4 4 0,4 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472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582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93005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9005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480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7287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495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9905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0107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5464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068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0EF211-2BFB-6B4A-8ED9-E264860AF635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E111BD-0E9D-6447-BCC7-BAE87DDFF59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88256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rduino.cc/en/software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8.png"/><Relationship Id="rId3" Type="http://schemas.openxmlformats.org/officeDocument/2006/relationships/image" Target="../media/image3.jpg"/><Relationship Id="rId7" Type="http://schemas.openxmlformats.org/officeDocument/2006/relationships/image" Target="../media/image5.png"/><Relationship Id="rId12" Type="http://schemas.openxmlformats.org/officeDocument/2006/relationships/customXml" Target="../ink/ink5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6.png"/><Relationship Id="rId14" Type="http://schemas.openxmlformats.org/officeDocument/2006/relationships/customXml" Target="../ink/ink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learn/starting-guide/getting-started-arduino/" TargetMode="External"/><Relationship Id="rId2" Type="http://schemas.openxmlformats.org/officeDocument/2006/relationships/hyperlink" Target="https://learn.sparkfun.com/tutorials/midi-tutorial/al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chingxs4all/Midi-MusicVilla" TargetMode="External"/><Relationship Id="rId4" Type="http://schemas.openxmlformats.org/officeDocument/2006/relationships/hyperlink" Target="https://docs.arduino.cc/hardware/leonard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elektronica, stroomkring, Elektronische engineering, Stroomkringonderdeel&#10;&#10;Door AI gegenereerde inhoud is mogelijk onjuist.">
            <a:extLst>
              <a:ext uri="{FF2B5EF4-FFF2-40B4-BE49-F238E27FC236}">
                <a16:creationId xmlns:a16="http://schemas.microsoft.com/office/drawing/2014/main" id="{624CE4E0-B075-1442-A91F-6E023F80F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291" y="623275"/>
            <a:ext cx="4486305" cy="5607882"/>
          </a:xfrm>
          <a:prstGeom prst="rect">
            <a:avLst/>
          </a:prstGeom>
        </p:spPr>
      </p:pic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033A7AD-E2D4-C050-4A31-A65549ED2F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52497" y="1056640"/>
            <a:ext cx="3197660" cy="3125746"/>
          </a:xfrm>
        </p:spPr>
        <p:txBody>
          <a:bodyPr anchor="b">
            <a:normAutofit/>
          </a:bodyPr>
          <a:lstStyle/>
          <a:p>
            <a:pPr algn="l"/>
            <a:r>
              <a:rPr lang="nl-NL" sz="7200" dirty="0" err="1"/>
              <a:t>Arduino</a:t>
            </a:r>
            <a:r>
              <a:rPr lang="nl-NL" sz="7200" dirty="0"/>
              <a:t> &amp;</a:t>
            </a:r>
            <a:br>
              <a:rPr lang="nl-NL" sz="7200" dirty="0"/>
            </a:br>
            <a:r>
              <a:rPr lang="nl-NL" sz="7200" dirty="0"/>
              <a:t>MIDI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E8BC1FA-C5AC-3B96-08E2-8B5DC649C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52496" y="4301656"/>
            <a:ext cx="2705619" cy="762618"/>
          </a:xfrm>
        </p:spPr>
        <p:txBody>
          <a:bodyPr anchor="t">
            <a:normAutofit/>
          </a:bodyPr>
          <a:lstStyle/>
          <a:p>
            <a:pPr algn="l"/>
            <a:r>
              <a:rPr lang="nl-NL" sz="2000" dirty="0"/>
              <a:t>DIY MIDI controllers</a:t>
            </a:r>
          </a:p>
        </p:txBody>
      </p:sp>
    </p:spTree>
    <p:extLst>
      <p:ext uri="{BB962C8B-B14F-4D97-AF65-F5344CB8AC3E}">
        <p14:creationId xmlns:p14="http://schemas.microsoft.com/office/powerpoint/2010/main" val="227402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83113-8B2C-3284-EA96-90F1AA37A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9C927BA-1A0C-10FF-6CF3-90E7BE806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067A78B8-5AE9-D57F-96ED-B74A1BB48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776DAF-27BC-ED20-F7D7-55791A412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45E5B2-8629-151C-AA90-1CB194A85B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52497" y="1056640"/>
            <a:ext cx="3197660" cy="3125746"/>
          </a:xfrm>
        </p:spPr>
        <p:txBody>
          <a:bodyPr anchor="b">
            <a:normAutofit/>
          </a:bodyPr>
          <a:lstStyle/>
          <a:p>
            <a:pPr algn="l"/>
            <a:r>
              <a:rPr lang="nl-NL" sz="7200" dirty="0" err="1"/>
              <a:t>Arduino</a:t>
            </a:r>
            <a:r>
              <a:rPr lang="nl-NL" sz="7200" dirty="0"/>
              <a:t> &amp;</a:t>
            </a:r>
            <a:br>
              <a:rPr lang="nl-NL" sz="7200" dirty="0"/>
            </a:br>
            <a:r>
              <a:rPr lang="nl-NL" sz="7200" dirty="0"/>
              <a:t>MIDI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F59466E-84C6-EBDC-B7F0-F3F44C6555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52496" y="4301656"/>
            <a:ext cx="2705619" cy="762618"/>
          </a:xfrm>
        </p:spPr>
        <p:txBody>
          <a:bodyPr anchor="t">
            <a:normAutofit/>
          </a:bodyPr>
          <a:lstStyle/>
          <a:p>
            <a:pPr algn="l"/>
            <a:r>
              <a:rPr lang="nl-NL" sz="2000" dirty="0"/>
              <a:t>DIY MIDI controllers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D541100F-AA47-B42D-D4D9-09D532F65255}"/>
              </a:ext>
            </a:extLst>
          </p:cNvPr>
          <p:cNvSpPr txBox="1"/>
          <p:nvPr/>
        </p:nvSpPr>
        <p:spPr>
          <a:xfrm>
            <a:off x="197753" y="856944"/>
            <a:ext cx="53045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1: Download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software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install</a:t>
            </a:r>
            <a:r>
              <a:rPr lang="nl-NL" dirty="0"/>
              <a:t> </a:t>
            </a:r>
            <a:r>
              <a:rPr lang="nl-NL" dirty="0" err="1"/>
              <a:t>it</a:t>
            </a:r>
            <a:endParaRPr lang="nl-NL" dirty="0"/>
          </a:p>
          <a:p>
            <a:r>
              <a:rPr lang="nl-NL" dirty="0" err="1">
                <a:hlinkClick r:id="rId2"/>
              </a:rPr>
              <a:t>https</a:t>
            </a:r>
            <a:r>
              <a:rPr lang="nl-NL" dirty="0">
                <a:hlinkClick r:id="rId2"/>
              </a:rPr>
              <a:t>://</a:t>
            </a:r>
            <a:r>
              <a:rPr lang="nl-NL" dirty="0" err="1">
                <a:hlinkClick r:id="rId2"/>
              </a:rPr>
              <a:t>www.arduino.cc</a:t>
            </a:r>
            <a:r>
              <a:rPr lang="nl-NL" dirty="0">
                <a:hlinkClick r:id="rId2"/>
              </a:rPr>
              <a:t>/en/software/</a:t>
            </a:r>
            <a:endParaRPr lang="nl-NL" dirty="0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50036458-57E6-D332-6BDF-2451F76B0BD0}"/>
              </a:ext>
            </a:extLst>
          </p:cNvPr>
          <p:cNvSpPr txBox="1"/>
          <p:nvPr/>
        </p:nvSpPr>
        <p:spPr>
          <a:xfrm>
            <a:off x="149813" y="1896463"/>
            <a:ext cx="4949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2: Connect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board </a:t>
            </a:r>
            <a:r>
              <a:rPr lang="nl-NL" dirty="0" err="1"/>
              <a:t>to</a:t>
            </a:r>
            <a:r>
              <a:rPr lang="nl-NL" dirty="0"/>
              <a:t> a USB port</a:t>
            </a:r>
          </a:p>
          <a:p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dongle</a:t>
            </a:r>
            <a:r>
              <a:rPr lang="nl-NL" dirty="0"/>
              <a:t> or USB hub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needed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7D90372F-9954-0AA4-589C-BEB9645D63A8}"/>
              </a:ext>
            </a:extLst>
          </p:cNvPr>
          <p:cNvSpPr txBox="1"/>
          <p:nvPr/>
        </p:nvSpPr>
        <p:spPr>
          <a:xfrm>
            <a:off x="149813" y="2919624"/>
            <a:ext cx="6212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3: Start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software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right board</a:t>
            </a:r>
          </a:p>
          <a:p>
            <a:r>
              <a:rPr lang="nl-NL" dirty="0"/>
              <a:t>We </a:t>
            </a:r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Arduino</a:t>
            </a:r>
            <a:r>
              <a:rPr lang="nl-NL" dirty="0"/>
              <a:t> Leonardo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AB737126-EC27-6BBC-1361-4B9703017DD5}"/>
              </a:ext>
            </a:extLst>
          </p:cNvPr>
          <p:cNvSpPr txBox="1"/>
          <p:nvPr/>
        </p:nvSpPr>
        <p:spPr>
          <a:xfrm>
            <a:off x="195347" y="3942785"/>
            <a:ext cx="5440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4: Select </a:t>
            </a:r>
            <a:r>
              <a:rPr lang="nl-NL" dirty="0" err="1"/>
              <a:t>the</a:t>
            </a:r>
            <a:r>
              <a:rPr lang="nl-NL" dirty="0"/>
              <a:t> right </a:t>
            </a:r>
            <a:r>
              <a:rPr lang="nl-NL" dirty="0" err="1"/>
              <a:t>serial</a:t>
            </a:r>
            <a:r>
              <a:rPr lang="nl-NL" dirty="0"/>
              <a:t> port</a:t>
            </a:r>
          </a:p>
          <a:p>
            <a:r>
              <a:rPr lang="nl-NL" dirty="0"/>
              <a:t>On Windows look </a:t>
            </a:r>
            <a:r>
              <a:rPr lang="nl-NL" dirty="0" err="1"/>
              <a:t>for</a:t>
            </a:r>
            <a:r>
              <a:rPr lang="nl-NL" dirty="0"/>
              <a:t> COM , on Mac look </a:t>
            </a:r>
            <a:r>
              <a:rPr lang="nl-NL" dirty="0" err="1"/>
              <a:t>for</a:t>
            </a:r>
            <a:r>
              <a:rPr lang="nl-NL" dirty="0"/>
              <a:t> /</a:t>
            </a:r>
            <a:r>
              <a:rPr lang="nl-NL" dirty="0" err="1"/>
              <a:t>dev</a:t>
            </a:r>
            <a:r>
              <a:rPr lang="nl-NL" dirty="0"/>
              <a:t>/</a:t>
            </a:r>
            <a:r>
              <a:rPr lang="nl-NL" dirty="0" err="1"/>
              <a:t>cu</a:t>
            </a:r>
            <a:r>
              <a:rPr lang="nl-NL" dirty="0"/>
              <a:t>...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61158F43-8A32-C376-C334-787578366691}"/>
              </a:ext>
            </a:extLst>
          </p:cNvPr>
          <p:cNvSpPr txBox="1"/>
          <p:nvPr/>
        </p:nvSpPr>
        <p:spPr>
          <a:xfrm>
            <a:off x="179400" y="4797638"/>
            <a:ext cx="117650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5: Download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examples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open ‘1-Basic_Blink.ino’</a:t>
            </a:r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github.com</a:t>
            </a:r>
            <a:r>
              <a:rPr lang="nl-NL" dirty="0"/>
              <a:t>/ichingxs4all/Midi-</a:t>
            </a:r>
            <a:r>
              <a:rPr lang="nl-NL" dirty="0" err="1"/>
              <a:t>MusicVilla</a:t>
            </a:r>
            <a:r>
              <a:rPr lang="nl-NL" dirty="0"/>
              <a:t>/releases/download/Resonant_Frequencies_WS2/Midi-</a:t>
            </a:r>
            <a:r>
              <a:rPr lang="nl-NL" dirty="0" err="1"/>
              <a:t>MusicVilla.zip</a:t>
            </a:r>
            <a:endParaRPr lang="nl-NL" dirty="0"/>
          </a:p>
        </p:txBody>
      </p:sp>
      <p:sp>
        <p:nvSpPr>
          <p:cNvPr id="5" name="Tekstvak 8">
            <a:extLst>
              <a:ext uri="{FF2B5EF4-FFF2-40B4-BE49-F238E27FC236}">
                <a16:creationId xmlns:a16="http://schemas.microsoft.com/office/drawing/2014/main" id="{D8C68DDF-1DE0-6465-7F73-3B7F52A11922}"/>
              </a:ext>
            </a:extLst>
          </p:cNvPr>
          <p:cNvSpPr txBox="1"/>
          <p:nvPr/>
        </p:nvSpPr>
        <p:spPr>
          <a:xfrm>
            <a:off x="179400" y="5662114"/>
            <a:ext cx="6839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6: </a:t>
            </a:r>
            <a:r>
              <a:rPr lang="nl-NL" dirty="0" err="1"/>
              <a:t>Try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Upload </a:t>
            </a:r>
            <a:r>
              <a:rPr lang="nl-NL" dirty="0" err="1"/>
              <a:t>the</a:t>
            </a:r>
            <a:r>
              <a:rPr lang="nl-NL" dirty="0"/>
              <a:t> Sketch </a:t>
            </a:r>
            <a:r>
              <a:rPr lang="nl-NL" dirty="0" err="1"/>
              <a:t>by</a:t>
            </a:r>
            <a:r>
              <a:rPr lang="nl-NL" dirty="0"/>
              <a:t> pressing </a:t>
            </a:r>
            <a:r>
              <a:rPr lang="nl-NL" dirty="0" err="1"/>
              <a:t>the</a:t>
            </a:r>
            <a:r>
              <a:rPr lang="nl-NL" dirty="0"/>
              <a:t> ‘Arrow Right’ button</a:t>
            </a:r>
          </a:p>
        </p:txBody>
      </p:sp>
    </p:spTree>
    <p:extLst>
      <p:ext uri="{BB962C8B-B14F-4D97-AF65-F5344CB8AC3E}">
        <p14:creationId xmlns:p14="http://schemas.microsoft.com/office/powerpoint/2010/main" val="3573323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3FE64-5DD8-E17F-464B-788C34224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4589"/>
            <a:ext cx="10515600" cy="1325563"/>
          </a:xfrm>
        </p:spPr>
        <p:txBody>
          <a:bodyPr/>
          <a:lstStyle/>
          <a:p>
            <a:r>
              <a:rPr lang="nl-NL" dirty="0" err="1"/>
              <a:t>Arduino</a:t>
            </a:r>
            <a:r>
              <a:rPr lang="nl-NL" dirty="0"/>
              <a:t> Leonardo + Grove </a:t>
            </a:r>
            <a:r>
              <a:rPr lang="nl-NL" dirty="0" err="1"/>
              <a:t>shield</a:t>
            </a:r>
            <a:endParaRPr lang="nl-NL" dirty="0"/>
          </a:p>
        </p:txBody>
      </p:sp>
      <p:pic>
        <p:nvPicPr>
          <p:cNvPr id="9" name="Tijdelijke aanduiding voor inhoud 8" descr="Afbeelding met tekst, elektronica, schermopname, Elektronische engineering&#10;&#10;Door AI gegenereerde inhoud is mogelijk onjuist.">
            <a:extLst>
              <a:ext uri="{FF2B5EF4-FFF2-40B4-BE49-F238E27FC236}">
                <a16:creationId xmlns:a16="http://schemas.microsoft.com/office/drawing/2014/main" id="{5D85458B-A73A-354F-4CF9-3E1808582D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1487" y="1362348"/>
            <a:ext cx="4582297" cy="5287877"/>
          </a:xfrm>
        </p:spPr>
      </p:pic>
      <p:pic>
        <p:nvPicPr>
          <p:cNvPr id="11" name="Afbeelding 10" descr="Afbeelding met tekst, elektronica, Elektronische engineering, stroomkring&#10;&#10;Door AI gegenereerde inhoud is mogelijk onjuist.">
            <a:extLst>
              <a:ext uri="{FF2B5EF4-FFF2-40B4-BE49-F238E27FC236}">
                <a16:creationId xmlns:a16="http://schemas.microsoft.com/office/drawing/2014/main" id="{D85611F2-6A93-9B87-001F-F37A5E6FD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330" y="1703807"/>
            <a:ext cx="5805470" cy="43513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t 2">
                <a:extLst>
                  <a:ext uri="{FF2B5EF4-FFF2-40B4-BE49-F238E27FC236}">
                    <a16:creationId xmlns:a16="http://schemas.microsoft.com/office/drawing/2014/main" id="{354F9884-3721-6972-E375-3A87F0B9E0A3}"/>
                  </a:ext>
                </a:extLst>
              </p14:cNvPr>
              <p14:cNvContentPartPr/>
              <p14:nvPr/>
            </p14:nvContentPartPr>
            <p14:xfrm>
              <a:off x="9578734" y="2221541"/>
              <a:ext cx="947160" cy="1050120"/>
            </p14:xfrm>
          </p:contentPart>
        </mc:Choice>
        <mc:Fallback xmlns="">
          <p:pic>
            <p:nvPicPr>
              <p:cNvPr id="3" name="Inkt 2">
                <a:extLst>
                  <a:ext uri="{FF2B5EF4-FFF2-40B4-BE49-F238E27FC236}">
                    <a16:creationId xmlns:a16="http://schemas.microsoft.com/office/drawing/2014/main" id="{354F9884-3721-6972-E375-3A87F0B9E0A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69734" y="2212901"/>
                <a:ext cx="964800" cy="106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76A5436E-FEBF-A89B-7D2D-92545B05FA39}"/>
                  </a:ext>
                </a:extLst>
              </p14:cNvPr>
              <p14:cNvContentPartPr/>
              <p14:nvPr/>
            </p14:nvContentPartPr>
            <p14:xfrm>
              <a:off x="7748854" y="2156381"/>
              <a:ext cx="1025640" cy="113652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76A5436E-FEBF-A89B-7D2D-92545B05FA3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40214" y="2147741"/>
                <a:ext cx="1043280" cy="115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t 4">
                <a:extLst>
                  <a:ext uri="{FF2B5EF4-FFF2-40B4-BE49-F238E27FC236}">
                    <a16:creationId xmlns:a16="http://schemas.microsoft.com/office/drawing/2014/main" id="{775CCCCC-D6B8-22F3-E10C-2A227F490D73}"/>
                  </a:ext>
                </a:extLst>
              </p14:cNvPr>
              <p14:cNvContentPartPr/>
              <p14:nvPr/>
            </p14:nvContentPartPr>
            <p14:xfrm>
              <a:off x="9414574" y="4190741"/>
              <a:ext cx="1354680" cy="1399320"/>
            </p14:xfrm>
          </p:contentPart>
        </mc:Choice>
        <mc:Fallback xmlns="">
          <p:pic>
            <p:nvPicPr>
              <p:cNvPr id="5" name="Inkt 4">
                <a:extLst>
                  <a:ext uri="{FF2B5EF4-FFF2-40B4-BE49-F238E27FC236}">
                    <a16:creationId xmlns:a16="http://schemas.microsoft.com/office/drawing/2014/main" id="{775CCCCC-D6B8-22F3-E10C-2A227F490D7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05574" y="4181741"/>
                <a:ext cx="1372320" cy="141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t 5">
                <a:extLst>
                  <a:ext uri="{FF2B5EF4-FFF2-40B4-BE49-F238E27FC236}">
                    <a16:creationId xmlns:a16="http://schemas.microsoft.com/office/drawing/2014/main" id="{23966C86-9874-95B0-9C45-5D736AA9230D}"/>
                  </a:ext>
                </a:extLst>
              </p14:cNvPr>
              <p14:cNvContentPartPr/>
              <p14:nvPr/>
            </p14:nvContentPartPr>
            <p14:xfrm>
              <a:off x="6193294" y="4291541"/>
              <a:ext cx="1150200" cy="893520"/>
            </p14:xfrm>
          </p:contentPart>
        </mc:Choice>
        <mc:Fallback xmlns="">
          <p:pic>
            <p:nvPicPr>
              <p:cNvPr id="6" name="Inkt 5">
                <a:extLst>
                  <a:ext uri="{FF2B5EF4-FFF2-40B4-BE49-F238E27FC236}">
                    <a16:creationId xmlns:a16="http://schemas.microsoft.com/office/drawing/2014/main" id="{23966C86-9874-95B0-9C45-5D736AA9230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84294" y="4282901"/>
                <a:ext cx="1167840" cy="91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t 6">
                <a:extLst>
                  <a:ext uri="{FF2B5EF4-FFF2-40B4-BE49-F238E27FC236}">
                    <a16:creationId xmlns:a16="http://schemas.microsoft.com/office/drawing/2014/main" id="{0C22D6AB-C2E2-C35B-FB8B-C9D10CACD0B7}"/>
                  </a:ext>
                </a:extLst>
              </p14:cNvPr>
              <p14:cNvContentPartPr/>
              <p14:nvPr/>
            </p14:nvContentPartPr>
            <p14:xfrm>
              <a:off x="6071614" y="3395861"/>
              <a:ext cx="1237320" cy="1013760"/>
            </p14:xfrm>
          </p:contentPart>
        </mc:Choice>
        <mc:Fallback xmlns="">
          <p:pic>
            <p:nvPicPr>
              <p:cNvPr id="7" name="Inkt 6">
                <a:extLst>
                  <a:ext uri="{FF2B5EF4-FFF2-40B4-BE49-F238E27FC236}">
                    <a16:creationId xmlns:a16="http://schemas.microsoft.com/office/drawing/2014/main" id="{0C22D6AB-C2E2-C35B-FB8B-C9D10CACD0B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062974" y="3386861"/>
                <a:ext cx="1254960" cy="10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t 7">
                <a:extLst>
                  <a:ext uri="{FF2B5EF4-FFF2-40B4-BE49-F238E27FC236}">
                    <a16:creationId xmlns:a16="http://schemas.microsoft.com/office/drawing/2014/main" id="{E3DEB4AA-06A9-1432-F871-CD872366DCFE}"/>
                  </a:ext>
                </a:extLst>
              </p14:cNvPr>
              <p14:cNvContentPartPr/>
              <p14:nvPr/>
            </p14:nvContentPartPr>
            <p14:xfrm>
              <a:off x="8635174" y="3264821"/>
              <a:ext cx="839880" cy="1085760"/>
            </p14:xfrm>
          </p:contentPart>
        </mc:Choice>
        <mc:Fallback xmlns="">
          <p:pic>
            <p:nvPicPr>
              <p:cNvPr id="8" name="Inkt 7">
                <a:extLst>
                  <a:ext uri="{FF2B5EF4-FFF2-40B4-BE49-F238E27FC236}">
                    <a16:creationId xmlns:a16="http://schemas.microsoft.com/office/drawing/2014/main" id="{E3DEB4AA-06A9-1432-F871-CD872366DCF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626174" y="3255821"/>
                <a:ext cx="857520" cy="110340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kstvak 9">
            <a:extLst>
              <a:ext uri="{FF2B5EF4-FFF2-40B4-BE49-F238E27FC236}">
                <a16:creationId xmlns:a16="http://schemas.microsoft.com/office/drawing/2014/main" id="{F92C0471-F5FB-2B9B-184A-31EA3D232A7D}"/>
              </a:ext>
            </a:extLst>
          </p:cNvPr>
          <p:cNvSpPr txBox="1"/>
          <p:nvPr/>
        </p:nvSpPr>
        <p:spPr>
          <a:xfrm>
            <a:off x="9359040" y="2561935"/>
            <a:ext cx="1826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MIDI INTERFACE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8E259FEA-56C4-4DCE-8395-453C0DA433A5}"/>
              </a:ext>
            </a:extLst>
          </p:cNvPr>
          <p:cNvSpPr txBox="1"/>
          <p:nvPr/>
        </p:nvSpPr>
        <p:spPr>
          <a:xfrm>
            <a:off x="9444814" y="4324126"/>
            <a:ext cx="1354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DISTANCE SENSOR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B98FF61A-AD71-6101-E9A2-4A710FB9A19A}"/>
              </a:ext>
            </a:extLst>
          </p:cNvPr>
          <p:cNvSpPr txBox="1"/>
          <p:nvPr/>
        </p:nvSpPr>
        <p:spPr>
          <a:xfrm>
            <a:off x="8635174" y="3418115"/>
            <a:ext cx="916560" cy="654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2"/>
                </a:solidFill>
                <a:highlight>
                  <a:srgbClr val="FFFF00"/>
                </a:highlight>
              </a:rPr>
              <a:t>Touch button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311D2EED-4D01-F9D8-4BA0-B1A8B5D72EDF}"/>
              </a:ext>
            </a:extLst>
          </p:cNvPr>
          <p:cNvSpPr txBox="1"/>
          <p:nvPr/>
        </p:nvSpPr>
        <p:spPr>
          <a:xfrm>
            <a:off x="7886284" y="2614462"/>
            <a:ext cx="94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LED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FA5A3FEB-D6A5-6D2C-ECD5-918BBEE61375}"/>
              </a:ext>
            </a:extLst>
          </p:cNvPr>
          <p:cNvSpPr txBox="1"/>
          <p:nvPr/>
        </p:nvSpPr>
        <p:spPr>
          <a:xfrm>
            <a:off x="6436859" y="4521069"/>
            <a:ext cx="1196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Potmeter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DBEC77B-8E6D-F4BC-0B01-D217CC32C986}"/>
              </a:ext>
            </a:extLst>
          </p:cNvPr>
          <p:cNvSpPr txBox="1"/>
          <p:nvPr/>
        </p:nvSpPr>
        <p:spPr>
          <a:xfrm>
            <a:off x="6516652" y="3745474"/>
            <a:ext cx="115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LDR</a:t>
            </a:r>
          </a:p>
        </p:txBody>
      </p:sp>
    </p:spTree>
    <p:extLst>
      <p:ext uri="{BB962C8B-B14F-4D97-AF65-F5344CB8AC3E}">
        <p14:creationId xmlns:p14="http://schemas.microsoft.com/office/powerpoint/2010/main" val="1473786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6FA70-5678-4E6B-8D80-5F5D46CB7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Sensors &amp; MIDI interface </a:t>
            </a:r>
            <a:r>
              <a:rPr lang="nl-NL" dirty="0" err="1"/>
              <a:t>used</a:t>
            </a:r>
            <a:endParaRPr lang="nl-NL" dirty="0"/>
          </a:p>
        </p:txBody>
      </p:sp>
      <p:pic>
        <p:nvPicPr>
          <p:cNvPr id="5" name="Tijdelijke aanduiding voor inhoud 4" descr="Afbeelding met schroevendraaier, gereedschap&#10;&#10;Door AI gegenereerde inhoud is mogelijk onjuist.">
            <a:extLst>
              <a:ext uri="{FF2B5EF4-FFF2-40B4-BE49-F238E27FC236}">
                <a16:creationId xmlns:a16="http://schemas.microsoft.com/office/drawing/2014/main" id="{9D2CED9E-DD8E-B8C9-B2A8-FCCFF6F1A6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202" y="1524000"/>
            <a:ext cx="1905000" cy="1905000"/>
          </a:xfrm>
        </p:spPr>
      </p:pic>
      <p:pic>
        <p:nvPicPr>
          <p:cNvPr id="7" name="Afbeelding 6" descr="Afbeelding met schermopname, cirkel&#10;&#10;Door AI gegenereerde inhoud is mogelijk onjuist.">
            <a:extLst>
              <a:ext uri="{FF2B5EF4-FFF2-40B4-BE49-F238E27FC236}">
                <a16:creationId xmlns:a16="http://schemas.microsoft.com/office/drawing/2014/main" id="{28AFEFEA-DDF9-845E-39AD-3E404111C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2554" y="1520134"/>
            <a:ext cx="2547553" cy="1909452"/>
          </a:xfrm>
          <a:prstGeom prst="rect">
            <a:avLst/>
          </a:prstGeom>
        </p:spPr>
      </p:pic>
      <p:pic>
        <p:nvPicPr>
          <p:cNvPr id="9" name="Afbeelding 8" descr="Afbeelding met elektronica, Elektronisch onderdeel, Stroomkringonderdeel, Passief stroomkringonderdeel&#10;&#10;Door AI gegenereerde inhoud is mogelijk onjuist.">
            <a:extLst>
              <a:ext uri="{FF2B5EF4-FFF2-40B4-BE49-F238E27FC236}">
                <a16:creationId xmlns:a16="http://schemas.microsoft.com/office/drawing/2014/main" id="{4197BF6F-B249-D6E3-53A3-D03169B8E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641069" y="4180901"/>
            <a:ext cx="2111100" cy="2512850"/>
          </a:xfrm>
          <a:prstGeom prst="rect">
            <a:avLst/>
          </a:prstGeom>
        </p:spPr>
      </p:pic>
      <p:pic>
        <p:nvPicPr>
          <p:cNvPr id="11" name="Afbeelding 10" descr="Afbeelding met tube&#10;&#10;Door AI gegenereerde inhoud is mogelijk onjuist.">
            <a:extLst>
              <a:ext uri="{FF2B5EF4-FFF2-40B4-BE49-F238E27FC236}">
                <a16:creationId xmlns:a16="http://schemas.microsoft.com/office/drawing/2014/main" id="{6598A7F4-03EF-9B7A-0047-F96A1F68CD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035" y="1524000"/>
            <a:ext cx="1905000" cy="1905000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C7E9744D-DA99-E27A-40CD-948BB26C7D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3721" y="1520134"/>
            <a:ext cx="1620795" cy="1908866"/>
          </a:xfrm>
          <a:prstGeom prst="rect">
            <a:avLst/>
          </a:prstGeom>
        </p:spPr>
      </p:pic>
      <p:pic>
        <p:nvPicPr>
          <p:cNvPr id="15" name="Afbeelding 14" descr="Afbeelding met tekst, elektronica, Stroomkringonderdeel, Elektronische engineering&#10;&#10;Door AI gegenereerde inhoud is mogelijk onjuist.">
            <a:extLst>
              <a:ext uri="{FF2B5EF4-FFF2-40B4-BE49-F238E27FC236}">
                <a16:creationId xmlns:a16="http://schemas.microsoft.com/office/drawing/2014/main" id="{F64CDDC6-93CD-34D3-45D5-5369563648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5319" y="1520134"/>
            <a:ext cx="1905000" cy="1905000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6F84A9D6-5941-9697-816C-461868EAC566}"/>
              </a:ext>
            </a:extLst>
          </p:cNvPr>
          <p:cNvSpPr txBox="1"/>
          <p:nvPr/>
        </p:nvSpPr>
        <p:spPr>
          <a:xfrm>
            <a:off x="1426108" y="3643110"/>
            <a:ext cx="962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LED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42E24BC-D9D9-1A3F-225B-3376E095B0A9}"/>
              </a:ext>
            </a:extLst>
          </p:cNvPr>
          <p:cNvSpPr txBox="1"/>
          <p:nvPr/>
        </p:nvSpPr>
        <p:spPr>
          <a:xfrm>
            <a:off x="2747159" y="3643110"/>
            <a:ext cx="21339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POTMETER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D3FB7CA9-11E8-1AF6-6544-CA95FD986A4A}"/>
              </a:ext>
            </a:extLst>
          </p:cNvPr>
          <p:cNvSpPr txBox="1"/>
          <p:nvPr/>
        </p:nvSpPr>
        <p:spPr>
          <a:xfrm>
            <a:off x="5273312" y="3613000"/>
            <a:ext cx="9204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LDR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03E5AF6A-9B5F-A3A4-773D-C9E14A93921E}"/>
              </a:ext>
            </a:extLst>
          </p:cNvPr>
          <p:cNvSpPr txBox="1"/>
          <p:nvPr/>
        </p:nvSpPr>
        <p:spPr>
          <a:xfrm>
            <a:off x="6686035" y="3578183"/>
            <a:ext cx="3110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TOUCH BUTTON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F9E4EBD1-2229-B480-D255-2E24C0378985}"/>
              </a:ext>
            </a:extLst>
          </p:cNvPr>
          <p:cNvSpPr txBox="1"/>
          <p:nvPr/>
        </p:nvSpPr>
        <p:spPr>
          <a:xfrm>
            <a:off x="1194073" y="5089034"/>
            <a:ext cx="31061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MIDI INTERFACE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68CFFB45-3919-5647-57CD-523405735C85}"/>
              </a:ext>
            </a:extLst>
          </p:cNvPr>
          <p:cNvSpPr txBox="1"/>
          <p:nvPr/>
        </p:nvSpPr>
        <p:spPr>
          <a:xfrm>
            <a:off x="8717394" y="4311555"/>
            <a:ext cx="3474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AFSTAND SENSOR</a:t>
            </a:r>
          </a:p>
        </p:txBody>
      </p:sp>
    </p:spTree>
    <p:extLst>
      <p:ext uri="{BB962C8B-B14F-4D97-AF65-F5344CB8AC3E}">
        <p14:creationId xmlns:p14="http://schemas.microsoft.com/office/powerpoint/2010/main" val="1724185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A7A2C-ADB8-B985-E3DF-89A2726F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sure</a:t>
            </a:r>
            <a:r>
              <a:rPr lang="nl-NL" dirty="0"/>
              <a:t> !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84A152-D15A-7015-B65F-B29E671C7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Don’t</a:t>
            </a:r>
            <a:r>
              <a:rPr lang="nl-NL" dirty="0"/>
              <a:t> </a:t>
            </a:r>
            <a:r>
              <a:rPr lang="nl-NL" dirty="0" err="1"/>
              <a:t>connect</a:t>
            </a:r>
            <a:r>
              <a:rPr lang="nl-NL" dirty="0"/>
              <a:t> </a:t>
            </a:r>
            <a:r>
              <a:rPr lang="nl-NL" dirty="0" err="1"/>
              <a:t>anything</a:t>
            </a:r>
            <a:r>
              <a:rPr lang="nl-NL" dirty="0"/>
              <a:t> </a:t>
            </a:r>
            <a:r>
              <a:rPr lang="nl-NL" dirty="0" err="1"/>
              <a:t>while</a:t>
            </a:r>
            <a:r>
              <a:rPr lang="nl-NL" dirty="0"/>
              <a:t> </a:t>
            </a:r>
            <a:r>
              <a:rPr lang="nl-NL" dirty="0" err="1"/>
              <a:t>powered</a:t>
            </a:r>
            <a:r>
              <a:rPr lang="nl-NL" dirty="0"/>
              <a:t> </a:t>
            </a:r>
            <a:r>
              <a:rPr lang="nl-NL" dirty="0" err="1"/>
              <a:t>through</a:t>
            </a:r>
            <a:r>
              <a:rPr lang="nl-NL" dirty="0"/>
              <a:t> USB</a:t>
            </a:r>
          </a:p>
          <a:p>
            <a:r>
              <a:rPr lang="nl-NL" dirty="0" err="1"/>
              <a:t>Don’t</a:t>
            </a:r>
            <a:r>
              <a:rPr lang="nl-NL" dirty="0"/>
              <a:t> set </a:t>
            </a:r>
            <a:r>
              <a:rPr lang="nl-NL" dirty="0" err="1"/>
              <a:t>the</a:t>
            </a:r>
            <a:r>
              <a:rPr lang="nl-NL" dirty="0"/>
              <a:t> switch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shield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5V..keep </a:t>
            </a:r>
            <a:r>
              <a:rPr lang="nl-NL" dirty="0" err="1"/>
              <a:t>it</a:t>
            </a:r>
            <a:r>
              <a:rPr lang="nl-NL" dirty="0"/>
              <a:t> on 3.3V</a:t>
            </a:r>
          </a:p>
          <a:p>
            <a:r>
              <a:rPr lang="nl-NL" dirty="0"/>
              <a:t>Make </a:t>
            </a:r>
            <a:r>
              <a:rPr lang="nl-NL" dirty="0" err="1"/>
              <a:t>sure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sensors do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touch</a:t>
            </a:r>
            <a:r>
              <a:rPr lang="nl-NL" dirty="0"/>
              <a:t> </a:t>
            </a:r>
            <a:r>
              <a:rPr lang="nl-NL" dirty="0" err="1"/>
              <a:t>anything</a:t>
            </a:r>
            <a:r>
              <a:rPr lang="nl-NL" dirty="0"/>
              <a:t> metal</a:t>
            </a:r>
          </a:p>
          <a:p>
            <a:r>
              <a:rPr lang="nl-NL" dirty="0" err="1"/>
              <a:t>Ask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sure</a:t>
            </a:r>
            <a:r>
              <a:rPr lang="nl-NL" dirty="0"/>
              <a:t> ;-)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16665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50D905-7C47-2777-7845-C3923AB5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525852"/>
          </a:xfrm>
        </p:spPr>
        <p:txBody>
          <a:bodyPr/>
          <a:lstStyle/>
          <a:p>
            <a:pPr algn="ctr"/>
            <a:r>
              <a:rPr lang="nl-NL" dirty="0"/>
              <a:t>Have Fun </a:t>
            </a:r>
            <a:r>
              <a:rPr lang="nl-NL" dirty="0" err="1"/>
              <a:t>and</a:t>
            </a:r>
            <a:r>
              <a:rPr lang="nl-NL" dirty="0"/>
              <a:t> Rock On !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5922AF3-F5F4-E118-2F7E-E64D81132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9184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A0E90-5304-7DE9-518D-444E29E3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E02FC5-BA48-43AE-AF91-855FC49E84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2C641B2-8B30-7093-01B2-C0F2E345B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About MIDI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C38CDB-8607-79E3-8D1F-E9BA2FA1C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CBCA029-9732-11E9-DCBE-2F3AAF4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9E819AA-7832-EB65-7502-745CC3C52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5D790A7-90F0-FFAD-B217-547FECFB3F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6250D6C2-2744-66D0-FDF4-EC4F5393F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5BFA68-5265-1BC9-2BD8-2C4329709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Tijdelijke aanduiding voor inhoud 7">
            <a:extLst>
              <a:ext uri="{FF2B5EF4-FFF2-40B4-BE49-F238E27FC236}">
                <a16:creationId xmlns:a16="http://schemas.microsoft.com/office/drawing/2014/main" id="{3B316DAF-9BA8-F1CC-2CD4-70CEADAD35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4905" y="1650872"/>
            <a:ext cx="5822765" cy="3639228"/>
          </a:xfrm>
        </p:spPr>
      </p:pic>
    </p:spTree>
    <p:extLst>
      <p:ext uri="{BB962C8B-B14F-4D97-AF65-F5344CB8AC3E}">
        <p14:creationId xmlns:p14="http://schemas.microsoft.com/office/powerpoint/2010/main" val="1343471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A53318-BF16-2E14-2A66-7B9E4008C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62A3DF7-52E2-9FB9-43EF-AA7281255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C2EC86B-6E4A-C5D6-6B90-207DBE33C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0FAE7D-BB2D-B00B-F4DF-9B2273A91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0416C90-8FE9-2B1C-0915-B026085F06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29771C6-2036-14EB-433E-D5435F36A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B55786F-2CE3-AEEA-33EE-61E4AA9FD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EEA7EB0-FC39-7876-D4DA-D99C813C7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5C484E-17D9-422E-E09C-FC78A4AAE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Tijdelijke aanduiding voor inhoud 6" descr="Afbeelding met tekst, piano, Keyboard, keyboard&#10;&#10;Door AI gegenereerde inhoud is mogelijk onjuist.">
            <a:extLst>
              <a:ext uri="{FF2B5EF4-FFF2-40B4-BE49-F238E27FC236}">
                <a16:creationId xmlns:a16="http://schemas.microsoft.com/office/drawing/2014/main" id="{A9404388-4A9E-08A0-3315-AB0AB73113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8841" y="569729"/>
            <a:ext cx="7785647" cy="5839235"/>
          </a:xfrm>
        </p:spPr>
      </p:pic>
    </p:spTree>
    <p:extLst>
      <p:ext uri="{BB962C8B-B14F-4D97-AF65-F5344CB8AC3E}">
        <p14:creationId xmlns:p14="http://schemas.microsoft.com/office/powerpoint/2010/main" val="1180266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7CDA68-C77F-C00A-B400-378578052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ECAF3D9-28EB-89BA-99C2-91344A4BA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499" y="1341657"/>
            <a:ext cx="5336350" cy="5291507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Note On – Off =</a:t>
            </a:r>
            <a:br>
              <a:rPr lang="en-US" sz="5400" dirty="0"/>
            </a:br>
            <a:r>
              <a:rPr lang="en-US" sz="5400" dirty="0"/>
              <a:t>Note + Velocity + Channel</a:t>
            </a:r>
            <a:br>
              <a:rPr lang="en-US" sz="5400" dirty="0"/>
            </a:br>
            <a:br>
              <a:rPr lang="en-US" sz="3200" dirty="0"/>
            </a:br>
            <a:r>
              <a:rPr lang="en-US" sz="3600" dirty="0"/>
              <a:t>Note = 0 – 127</a:t>
            </a:r>
            <a:br>
              <a:rPr lang="en-US" sz="3600" dirty="0"/>
            </a:br>
            <a:r>
              <a:rPr lang="en-US" sz="3600" dirty="0"/>
              <a:t>Velocity = 0 – 127</a:t>
            </a:r>
            <a:br>
              <a:rPr lang="en-US" sz="3600" dirty="0"/>
            </a:br>
            <a:r>
              <a:rPr lang="en-US" sz="3600" dirty="0"/>
              <a:t>Channel = 1 -16</a:t>
            </a:r>
            <a:br>
              <a:rPr lang="en-US" sz="3200" dirty="0"/>
            </a:br>
            <a:br>
              <a:rPr lang="en-US" sz="5400" dirty="0"/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965BA769-B18C-D139-3E4F-D80951FA8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665" y="1408892"/>
            <a:ext cx="5396688" cy="403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5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D8245B-B459-3416-F593-9D55B9849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C832F2E-D038-F4E8-0B44-760AB092F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DA7552C-D06C-E531-7A2B-686423E4E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0406" y="1224756"/>
            <a:ext cx="4629571" cy="4351337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Control Change=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Controller No. +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Value + 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dirty="0"/>
              <a:t>Control No. = 0 – 127</a:t>
            </a:r>
            <a:br>
              <a:rPr lang="en-US" sz="3600" dirty="0"/>
            </a:br>
            <a:r>
              <a:rPr lang="en-US" sz="3600" dirty="0"/>
              <a:t>Value = 0 – 127</a:t>
            </a:r>
            <a:br>
              <a:rPr lang="en-US" sz="3600" dirty="0"/>
            </a:br>
            <a:r>
              <a:rPr lang="en-US" sz="3600" dirty="0"/>
              <a:t>Channel = 1 - 16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7B4326A-B232-06E9-1009-563061ABA2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05C6689-15F4-7DC7-17D8-EF07945F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CED891-4D0A-2135-6315-0C233F260C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30B5E51-D67D-3014-9384-87EB304E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E5E8BC68-63DC-A3CD-F378-1732283C5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52A134-25AD-30D2-F28B-E4ECEFEEF4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8CF2C18-A9DA-A3FC-3585-A72B10420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  <p:pic>
        <p:nvPicPr>
          <p:cNvPr id="7" name="Afbeelding 6" descr="Afbeelding met piano, Elektronisch instrument, Keyboard, Elektronisch muziekinstrument&#10;&#10;Door AI gegenereerde inhoud is mogelijk onjuist.">
            <a:extLst>
              <a:ext uri="{FF2B5EF4-FFF2-40B4-BE49-F238E27FC236}">
                <a16:creationId xmlns:a16="http://schemas.microsoft.com/office/drawing/2014/main" id="{3ED4F1B9-F529-C52C-68E5-DD293E1DB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150" y="912494"/>
            <a:ext cx="5032375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572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4E4688-E4EC-B223-90FF-D679101B9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C4D9652-086B-4075-044E-57323BC10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E7EC2F-B066-0C7F-3775-2842B8222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376" y="1273410"/>
            <a:ext cx="7220337" cy="47700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Program Change 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 No. + 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 No. = 0 – 127</a:t>
            </a:r>
            <a:b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 = 1 – 16</a:t>
            </a:r>
            <a:b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95DA348-4005-066F-D5B9-45049C386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D94D807-6223-E48C-CFB6-E2C0DC2E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DA68953-248F-E07F-1ED1-3C67D8BBD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A5F164-50F5-6E16-9036-9C9BF2A01F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13F38F7-5A32-EFD0-922D-DAF9CFAD6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060C6D-4836-D0BC-B114-43752CD8A3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Afbeelding 7" descr="Afbeelding met elektronica, rekenmachine&#10;&#10;Door AI gegenereerde inhoud is mogelijk onjuist.">
            <a:extLst>
              <a:ext uri="{FF2B5EF4-FFF2-40B4-BE49-F238E27FC236}">
                <a16:creationId xmlns:a16="http://schemas.microsoft.com/office/drawing/2014/main" id="{54C4F72D-97CA-8F71-7824-5C6B12E27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498" y="997622"/>
            <a:ext cx="47625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095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D4364-364C-85FA-CD2C-DFF2D0A64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D716CFB-C1F7-4800-1E61-00EAC71FC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C6FA67D-7748-44B5-C26E-CFF271C77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91" y="1565434"/>
            <a:ext cx="5469710" cy="46560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Pitch Bend 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Value + 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Pitch Bend = 0 – 16383</a:t>
            </a:r>
            <a:b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 = 1 - 16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252A0CC-1D37-C969-23DF-1392DF26E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B23FF23-3E45-7857-9B03-7D46C27CDE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4380591-FE37-5B06-1115-89A2AAFFD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05E6B48-6730-E2A2-985C-650E8BEEE9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7F2C926-DB16-C4DF-D400-F25F97D41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B37B64-69FE-E802-1548-8CC366894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piano, Keyboard, muziekinstrument, Elektronisch instrument&#10;&#10;Door AI gegenereerde inhoud is mogelijk onjuist.">
            <a:extLst>
              <a:ext uri="{FF2B5EF4-FFF2-40B4-BE49-F238E27FC236}">
                <a16:creationId xmlns:a16="http://schemas.microsoft.com/office/drawing/2014/main" id="{9EAAF897-82FC-2BAC-9C41-7E3A5EAA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940" y="1482566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60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C4FE9-7FBD-F0DC-5997-8CC23CE9E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35EE205-1778-527A-2AE6-1A7636124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17497B-350E-E74D-1482-291E6CE35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386D1E-3C8B-81E0-946D-D443FE84D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1B2DBC4-A6FD-61BF-C67B-149BCA9D2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7F82D9C-300B-C546-345D-5477DC376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00BF625-ADEA-5DDE-7A22-CE8C07AB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990400-F838-56AE-1CB4-30F5048B8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10E793FE-D91E-74AC-F562-686EF46CF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134" y="1500222"/>
            <a:ext cx="5791200" cy="39624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0AD3527-8BAD-F1CE-6CCA-3BBE3D5A4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91" y="1692322"/>
            <a:ext cx="7508448" cy="399213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System Realtime </a:t>
            </a:r>
            <a:br>
              <a:rPr lang="en-US" sz="5400" dirty="0"/>
            </a:br>
            <a:r>
              <a:rPr lang="en-US" sz="5400" dirty="0"/>
              <a:t>Messages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3200" dirty="0"/>
            </a:br>
            <a:r>
              <a:rPr lang="en-US" sz="3200" dirty="0"/>
              <a:t>Start = 250</a:t>
            </a:r>
            <a:br>
              <a:rPr lang="en-US" sz="3200" dirty="0"/>
            </a:br>
            <a:r>
              <a:rPr lang="en-US" sz="3200" dirty="0"/>
              <a:t>Stop = 252</a:t>
            </a:r>
            <a:br>
              <a:rPr lang="en-US" sz="3200" dirty="0"/>
            </a:br>
            <a:r>
              <a:rPr lang="en-US" sz="3200" dirty="0"/>
              <a:t>Continue = 251</a:t>
            </a:r>
            <a:br>
              <a:rPr lang="en-US" sz="3200" dirty="0"/>
            </a:br>
            <a:r>
              <a:rPr lang="en-US" sz="3200" dirty="0"/>
              <a:t>Clock = 248</a:t>
            </a:r>
            <a:br>
              <a:rPr lang="en-US" sz="3200" dirty="0"/>
            </a:br>
            <a:r>
              <a:rPr lang="en-US" sz="3200" dirty="0"/>
              <a:t>Reset = 255</a:t>
            </a:r>
            <a:endParaRPr lang="en-US" sz="3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73679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B08AD-B654-AFD0-E0AD-8D65F944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BB43A43-72CB-D090-C158-663549E4A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CA3B27-1339-E169-1E41-9CCCA795B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E3496A-69DA-F200-CDF4-FBDA68FED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1550A78-C9BA-E5A1-D8E9-1555A87E9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608F14F-A5AC-8E41-1C59-499D39CC4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A0C35F3A-8991-2AB9-591A-22379B6D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2A7F3B-6599-315A-AD48-57433C20DC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EF58DD0-6452-95DC-3240-8CA0F155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Arduino</a:t>
            </a:r>
            <a:r>
              <a:rPr lang="nl-NL" dirty="0"/>
              <a:t> MIDI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commands</a:t>
            </a:r>
            <a:endParaRPr lang="nl-NL" dirty="0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EB64548-FB77-A61B-0B53-D905261CAF38}"/>
              </a:ext>
            </a:extLst>
          </p:cNvPr>
          <p:cNvSpPr txBox="1"/>
          <p:nvPr/>
        </p:nvSpPr>
        <p:spPr>
          <a:xfrm>
            <a:off x="3611541" y="1939957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MIDI.sendNoteOn</a:t>
            </a:r>
            <a:r>
              <a:rPr lang="nl-NL" dirty="0"/>
              <a:t>( </a:t>
            </a:r>
            <a:r>
              <a:rPr lang="nl-NL" dirty="0" err="1"/>
              <a:t>note</a:t>
            </a:r>
            <a:r>
              <a:rPr lang="nl-NL" dirty="0"/>
              <a:t>, </a:t>
            </a:r>
            <a:r>
              <a:rPr lang="nl-NL" dirty="0" err="1"/>
              <a:t>velocity</a:t>
            </a:r>
            <a:r>
              <a:rPr lang="nl-NL" dirty="0"/>
              <a:t>, </a:t>
            </a:r>
            <a:r>
              <a:rPr lang="nl-NL" dirty="0" err="1"/>
              <a:t>channel</a:t>
            </a:r>
            <a:r>
              <a:rPr lang="nl-NL" dirty="0"/>
              <a:t>);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2F752D85-BCA4-F47A-77C8-49224114D718}"/>
              </a:ext>
            </a:extLst>
          </p:cNvPr>
          <p:cNvSpPr txBox="1"/>
          <p:nvPr/>
        </p:nvSpPr>
        <p:spPr>
          <a:xfrm>
            <a:off x="3611541" y="2374353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MIDI.sendNoteOff</a:t>
            </a:r>
            <a:r>
              <a:rPr lang="nl-NL" dirty="0"/>
              <a:t>( </a:t>
            </a:r>
            <a:r>
              <a:rPr lang="nl-NL" dirty="0" err="1"/>
              <a:t>note</a:t>
            </a:r>
            <a:r>
              <a:rPr lang="nl-NL" dirty="0"/>
              <a:t>, </a:t>
            </a:r>
            <a:r>
              <a:rPr lang="nl-NL" dirty="0" err="1"/>
              <a:t>velocity</a:t>
            </a:r>
            <a:r>
              <a:rPr lang="nl-NL" dirty="0"/>
              <a:t>, </a:t>
            </a:r>
            <a:r>
              <a:rPr lang="nl-NL" dirty="0" err="1"/>
              <a:t>channel</a:t>
            </a:r>
            <a:r>
              <a:rPr lang="nl-NL" dirty="0"/>
              <a:t>);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C787F797-1999-39F9-D524-79DEE9611F6B}"/>
              </a:ext>
            </a:extLst>
          </p:cNvPr>
          <p:cNvSpPr txBox="1"/>
          <p:nvPr/>
        </p:nvSpPr>
        <p:spPr>
          <a:xfrm>
            <a:off x="3611540" y="2981360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MIDI.sendControlChange</a:t>
            </a:r>
            <a:r>
              <a:rPr lang="nl-NL" dirty="0"/>
              <a:t>(</a:t>
            </a:r>
            <a:r>
              <a:rPr lang="nl-NL" dirty="0" err="1"/>
              <a:t>ControlNumber</a:t>
            </a:r>
            <a:r>
              <a:rPr lang="nl-NL" dirty="0"/>
              <a:t>, </a:t>
            </a:r>
            <a:r>
              <a:rPr lang="nl-NL" dirty="0" err="1"/>
              <a:t>ControlValue</a:t>
            </a:r>
            <a:r>
              <a:rPr lang="nl-NL" dirty="0"/>
              <a:t>, Channel);</a:t>
            </a:r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3FFDAD70-3802-BCA3-1DC6-94EAB8FE82EB}"/>
              </a:ext>
            </a:extLst>
          </p:cNvPr>
          <p:cNvSpPr txBox="1"/>
          <p:nvPr/>
        </p:nvSpPr>
        <p:spPr>
          <a:xfrm>
            <a:off x="3654483" y="3609473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MIDI.sendProgramChange</a:t>
            </a:r>
            <a:r>
              <a:rPr lang="nl-NL" dirty="0"/>
              <a:t>(</a:t>
            </a:r>
            <a:r>
              <a:rPr lang="nl-NL" dirty="0" err="1"/>
              <a:t>ProgNumber</a:t>
            </a:r>
            <a:r>
              <a:rPr lang="nl-NL" dirty="0"/>
              <a:t>, Channel);</a:t>
            </a:r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2912E230-C1DC-DFAC-2931-D7DB4689068B}"/>
              </a:ext>
            </a:extLst>
          </p:cNvPr>
          <p:cNvSpPr txBox="1"/>
          <p:nvPr/>
        </p:nvSpPr>
        <p:spPr>
          <a:xfrm>
            <a:off x="2255319" y="1939957"/>
            <a:ext cx="15518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Note</a:t>
            </a:r>
            <a:endParaRPr lang="nl-NL" sz="3200" dirty="0"/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8247B76F-3E6D-03CB-7AE8-AB8C7FBFCF14}"/>
              </a:ext>
            </a:extLst>
          </p:cNvPr>
          <p:cNvSpPr txBox="1"/>
          <p:nvPr/>
        </p:nvSpPr>
        <p:spPr>
          <a:xfrm>
            <a:off x="2102642" y="2904058"/>
            <a:ext cx="15518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Control</a:t>
            </a:r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C603984A-D30D-54EF-8A41-C2F046CA046F}"/>
              </a:ext>
            </a:extLst>
          </p:cNvPr>
          <p:cNvSpPr txBox="1"/>
          <p:nvPr/>
        </p:nvSpPr>
        <p:spPr>
          <a:xfrm>
            <a:off x="1949346" y="3475726"/>
            <a:ext cx="16679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Program</a:t>
            </a:r>
          </a:p>
        </p:txBody>
      </p:sp>
      <p:sp>
        <p:nvSpPr>
          <p:cNvPr id="27" name="Tekstvak 26">
            <a:extLst>
              <a:ext uri="{FF2B5EF4-FFF2-40B4-BE49-F238E27FC236}">
                <a16:creationId xmlns:a16="http://schemas.microsoft.com/office/drawing/2014/main" id="{9972676F-A8AC-4300-D494-2594B0321385}"/>
              </a:ext>
            </a:extLst>
          </p:cNvPr>
          <p:cNvSpPr txBox="1"/>
          <p:nvPr/>
        </p:nvSpPr>
        <p:spPr>
          <a:xfrm>
            <a:off x="3611540" y="4378199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MIDI.sendPitchBend</a:t>
            </a:r>
            <a:r>
              <a:rPr lang="nl-NL" dirty="0"/>
              <a:t>(Value, Channel);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835AF9F6-F2BB-95FA-5D39-4D4E57EC1373}"/>
              </a:ext>
            </a:extLst>
          </p:cNvPr>
          <p:cNvSpPr txBox="1"/>
          <p:nvPr/>
        </p:nvSpPr>
        <p:spPr>
          <a:xfrm>
            <a:off x="1511607" y="4255558"/>
            <a:ext cx="2388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PitchBend</a:t>
            </a:r>
            <a:endParaRPr lang="nl-NL" sz="3200" dirty="0"/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DEA39BC4-2274-E528-CB50-4BAAEF36F041}"/>
              </a:ext>
            </a:extLst>
          </p:cNvPr>
          <p:cNvSpPr txBox="1"/>
          <p:nvPr/>
        </p:nvSpPr>
        <p:spPr>
          <a:xfrm>
            <a:off x="3611540" y="5176019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MIDI.sendClock</a:t>
            </a:r>
            <a:r>
              <a:rPr lang="nl-NL" dirty="0"/>
              <a:t>();</a:t>
            </a:r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6EB87A7A-607D-8541-DB2F-AC33AA684CF0}"/>
              </a:ext>
            </a:extLst>
          </p:cNvPr>
          <p:cNvSpPr txBox="1"/>
          <p:nvPr/>
        </p:nvSpPr>
        <p:spPr>
          <a:xfrm>
            <a:off x="2133222" y="5035390"/>
            <a:ext cx="1419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Clock</a:t>
            </a:r>
            <a:endParaRPr lang="nl-NL" sz="3200" dirty="0"/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30F9A910-95C3-891F-B38E-1B207BDEDFEF}"/>
              </a:ext>
            </a:extLst>
          </p:cNvPr>
          <p:cNvSpPr txBox="1"/>
          <p:nvPr/>
        </p:nvSpPr>
        <p:spPr>
          <a:xfrm>
            <a:off x="7832581" y="5176019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MIDI.sendStart</a:t>
            </a:r>
            <a:r>
              <a:rPr lang="nl-NL" dirty="0"/>
              <a:t>();</a:t>
            </a:r>
          </a:p>
        </p:txBody>
      </p:sp>
      <p:sp>
        <p:nvSpPr>
          <p:cNvPr id="32" name="Tekstvak 31">
            <a:extLst>
              <a:ext uri="{FF2B5EF4-FFF2-40B4-BE49-F238E27FC236}">
                <a16:creationId xmlns:a16="http://schemas.microsoft.com/office/drawing/2014/main" id="{6B770BFB-A72A-3735-4440-E4F7FF8C38C6}"/>
              </a:ext>
            </a:extLst>
          </p:cNvPr>
          <p:cNvSpPr txBox="1"/>
          <p:nvPr/>
        </p:nvSpPr>
        <p:spPr>
          <a:xfrm>
            <a:off x="7861969" y="5792491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MIDI.sendStop</a:t>
            </a:r>
            <a:r>
              <a:rPr lang="nl-NL" dirty="0"/>
              <a:t>();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B8109D3F-C0EE-0DB4-BEAD-5755BB3A7933}"/>
              </a:ext>
            </a:extLst>
          </p:cNvPr>
          <p:cNvSpPr txBox="1"/>
          <p:nvPr/>
        </p:nvSpPr>
        <p:spPr>
          <a:xfrm>
            <a:off x="6717671" y="5073556"/>
            <a:ext cx="10374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Start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BF9CFF10-4826-FE02-D1CF-0AEEF924497B}"/>
              </a:ext>
            </a:extLst>
          </p:cNvPr>
          <p:cNvSpPr txBox="1"/>
          <p:nvPr/>
        </p:nvSpPr>
        <p:spPr>
          <a:xfrm>
            <a:off x="6766055" y="5690932"/>
            <a:ext cx="10050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Stop</a:t>
            </a:r>
          </a:p>
        </p:txBody>
      </p:sp>
      <p:sp>
        <p:nvSpPr>
          <p:cNvPr id="35" name="Tekstvak 34">
            <a:extLst>
              <a:ext uri="{FF2B5EF4-FFF2-40B4-BE49-F238E27FC236}">
                <a16:creationId xmlns:a16="http://schemas.microsoft.com/office/drawing/2014/main" id="{57734950-3A0A-661C-C41B-24F683C1AA78}"/>
              </a:ext>
            </a:extLst>
          </p:cNvPr>
          <p:cNvSpPr txBox="1"/>
          <p:nvPr/>
        </p:nvSpPr>
        <p:spPr>
          <a:xfrm>
            <a:off x="1508806" y="5684769"/>
            <a:ext cx="1822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Continue</a:t>
            </a:r>
          </a:p>
        </p:txBody>
      </p:sp>
      <p:sp>
        <p:nvSpPr>
          <p:cNvPr id="36" name="Tekstvak 35">
            <a:extLst>
              <a:ext uri="{FF2B5EF4-FFF2-40B4-BE49-F238E27FC236}">
                <a16:creationId xmlns:a16="http://schemas.microsoft.com/office/drawing/2014/main" id="{DF9E347D-B4E3-D371-BEF1-55EDE430DB03}"/>
              </a:ext>
            </a:extLst>
          </p:cNvPr>
          <p:cNvSpPr txBox="1"/>
          <p:nvPr/>
        </p:nvSpPr>
        <p:spPr>
          <a:xfrm>
            <a:off x="3611539" y="5789173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MIDI.sendContinue</a:t>
            </a:r>
            <a:r>
              <a:rPr lang="nl-NL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815295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48D127-3947-DFAE-8734-F1A731A4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Introduction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MIDI &amp; </a:t>
            </a:r>
            <a:r>
              <a:rPr lang="nl-NL" dirty="0" err="1"/>
              <a:t>Arduino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B9F5B1C-1526-E120-9EB9-6E030962E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>
                <a:hlinkClick r:id="rId2"/>
              </a:rPr>
              <a:t>Midi Tutorial</a:t>
            </a:r>
            <a:endParaRPr lang="nl-NL" dirty="0"/>
          </a:p>
          <a:p>
            <a:r>
              <a:rPr lang="nl-NL" dirty="0">
                <a:hlinkClick r:id="rId3"/>
              </a:rPr>
              <a:t>Arduino Getting Started</a:t>
            </a:r>
            <a:endParaRPr lang="nl-NL" dirty="0"/>
          </a:p>
          <a:p>
            <a:r>
              <a:rPr lang="nl-NL" dirty="0">
                <a:hlinkClick r:id="rId4"/>
              </a:rPr>
              <a:t>Leonardo Tutorial</a:t>
            </a:r>
            <a:endParaRPr lang="nl-NL" dirty="0"/>
          </a:p>
          <a:p>
            <a:r>
              <a:rPr lang="nl-NL" dirty="0">
                <a:hlinkClick r:id="rId5"/>
              </a:rPr>
              <a:t>Example code for  the workshop</a:t>
            </a: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9638340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Kantoorth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Kantoorth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1512</TotalTime>
  <Words>457</Words>
  <Application>Microsoft Macintosh PowerPoint</Application>
  <PresentationFormat>Widescreen</PresentationFormat>
  <Paragraphs>67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Kantoorthema</vt:lpstr>
      <vt:lpstr>Arduino &amp; MIDI</vt:lpstr>
      <vt:lpstr>Arduino &amp; MIDI</vt:lpstr>
      <vt:lpstr>Arduino Leonardo + Grove shield</vt:lpstr>
      <vt:lpstr>Sensors &amp; MIDI interface used</vt:lpstr>
      <vt:lpstr>To be sure !</vt:lpstr>
      <vt:lpstr>Have Fun and Rock On !</vt:lpstr>
      <vt:lpstr>About MIDI </vt:lpstr>
      <vt:lpstr>PowerPoint Presentation</vt:lpstr>
      <vt:lpstr>Note On – Off = Note + Velocity + Channel  Note = 0 – 127 Velocity = 0 – 127 Channel = 1 -16   </vt:lpstr>
      <vt:lpstr>Control Change= Controller No. + Value + Channel  Control No. = 0 – 127 Value = 0 – 127 Channel = 1 - 16  </vt:lpstr>
      <vt:lpstr>Program Change = Program No. +  Channel  Program No. = 0 – 127 Channel = 1 – 16  </vt:lpstr>
      <vt:lpstr>Pitch Bend = Value + Channel  Pitch Bend = 0 – 16383 Channel = 1 - 16</vt:lpstr>
      <vt:lpstr>System Realtime  Messages  Start = 250 Stop = 252 Continue = 251 Clock = 248 Reset = 255</vt:lpstr>
      <vt:lpstr>Arduino MIDI library commands</vt:lpstr>
      <vt:lpstr>Introduction to MIDI &amp; Arduino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 Gutlich</dc:creator>
  <cp:lastModifiedBy>Michel Gutlich</cp:lastModifiedBy>
  <cp:revision>6</cp:revision>
  <dcterms:created xsi:type="dcterms:W3CDTF">2025-11-12T15:17:33Z</dcterms:created>
  <dcterms:modified xsi:type="dcterms:W3CDTF">2025-11-26T15:39:42Z</dcterms:modified>
</cp:coreProperties>
</file>